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Verified</c:v>
                </c:pt>
              </c:strCache>
            </c:strRef>
          </c:tx>
          <c:spPr>
            <a:solidFill>
              <a:srgbClr val="0F4C5C"/>
            </a:solidFill>
            <a:effectLst/>
          </c:spPr>
          <c:invertIfNegative val="0"/>
          <c:dLbls>
            <c:numFmt formatCode="0" sourceLinked="0"/>
            <c:txPr>
              <a:bodyPr/>
              <a:lstStyle/>
              <a:p>
                <a:pPr>
                  <a:defRPr b="0" i="0" strike="noStrike" sz="900" u="none">
                    <a:solidFill>
                      <a:srgbClr val="1B2A2F"/>
                    </a:solidFill>
                    <a:latin typeface="Arial"/>
                  </a:defRPr>
                </a:pPr>
              </a:p>
            </c:txPr>
            <c:showLegendKey val="0"/>
            <c:showVal val="1"/>
            <c:showCatName val="0"/>
            <c:showSerName val="0"/>
            <c:showPercent val="0"/>
            <c:showBubbleSize val="0"/>
            <c:showLeaderLines val="0"/>
          </c:dLbls>
          <c:cat>
            <c:multiLvlStrRef>
              <c:f>Sheet1!$A$2:$A$3</c:f>
              <c:multiLvlStrCache>
                <c:ptCount val="2"/>
                <c:lvl>
                  <c:pt idx="0">
                    <c:v>Auto-approve precision</c:v>
                  </c:pt>
                  <c:pt idx="1">
                    <c:v>Auto-reject precision</c:v>
                  </c:pt>
                </c:lvl>
              </c:multiLvlStrCache>
            </c:multiLvlStrRef>
          </c:cat>
          <c:val>
            <c:numRef>
              <c:f>Sheet1!$B$2:$B$3</c:f>
              <c:numCache>
                <c:formatCode>General</c:formatCode>
                <c:ptCount val="2"/>
                <c:pt idx="0">
                  <c:v>76</c:v>
                </c:pt>
                <c:pt idx="1">
                  <c:v>93</c:v>
                </c:pt>
              </c:numCache>
            </c:numRef>
          </c:val>
        </c:ser>
        <c:ser>
          <c:idx val="1"/>
          <c:order val="1"/>
          <c:tx>
            <c:strRef>
              <c:f>Sheet1!$C$1</c:f>
              <c:strCache>
                <c:ptCount val="1"/>
                <c:pt idx="0">
                  <c:v>Full</c:v>
                </c:pt>
              </c:strCache>
            </c:strRef>
          </c:tx>
          <c:spPr>
            <a:solidFill>
              <a:srgbClr val="85B7EB"/>
            </a:solidFill>
            <a:effectLst/>
          </c:spPr>
          <c:invertIfNegative val="0"/>
          <c:dLbls>
            <c:numFmt formatCode="0" sourceLinked="0"/>
            <c:txPr>
              <a:bodyPr/>
              <a:lstStyle/>
              <a:p>
                <a:pPr>
                  <a:defRPr b="0" i="0" strike="noStrike" sz="900" u="none">
                    <a:solidFill>
                      <a:srgbClr val="1B2A2F"/>
                    </a:solidFill>
                    <a:latin typeface="Arial"/>
                  </a:defRPr>
                </a:pPr>
              </a:p>
            </c:txPr>
            <c:showLegendKey val="0"/>
            <c:showVal val="1"/>
            <c:showCatName val="0"/>
            <c:showSerName val="0"/>
            <c:showPercent val="0"/>
            <c:showBubbleSize val="0"/>
            <c:showLeaderLines val="0"/>
          </c:dLbls>
          <c:cat>
            <c:multiLvlStrRef>
              <c:f>Sheet1!$A$2:$A$3</c:f>
              <c:multiLvlStrCache>
                <c:ptCount val="2"/>
                <c:lvl>
                  <c:pt idx="0">
                    <c:v>Auto-approve precision</c:v>
                  </c:pt>
                  <c:pt idx="1">
                    <c:v>Auto-reject precision</c:v>
                  </c:pt>
                </c:lvl>
              </c:multiLvlStrCache>
            </c:multiLvlStrRef>
          </c:cat>
          <c:val>
            <c:numRef>
              <c:f>Sheet1!$C$2:$C$3</c:f>
              <c:numCache>
                <c:formatCode>General</c:formatCode>
                <c:ptCount val="2"/>
                <c:pt idx="0">
                  <c:v>58</c:v>
                </c:pt>
                <c:pt idx="1">
                  <c:v>70</c:v>
                </c:pt>
              </c:numCache>
            </c:numRef>
          </c:val>
        </c:ser>
        <c:dLbls>
          <c:numFmt formatCode="0" sourceLinked="0"/>
          <c:txPr>
            <a:bodyPr/>
            <a:lstStyle/>
            <a:p>
              <a:pPr>
                <a:defRPr b="0" i="0" strike="noStrike" sz="900" u="none">
                  <a:solidFill>
                    <a:srgbClr val="1B2A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1B2A2F"/>
                </a:solidFill>
                <a:latin typeface="Arial"/>
              </a:defRPr>
            </a:pPr>
            <a:endParaRPr lang="en-US"/>
          </a:p>
        </c:txPr>
        <c:crossAx val="2094734552"/>
        <c:crosses val="autoZero"/>
        <c:auto val="1"/>
        <c:lblAlgn val="ctr"/>
        <c:noMultiLvlLbl val="1"/>
      </c:catAx>
      <c:valAx>
        <c:axId val="2094734552"/>
        <c:scaling>
          <c:orientation val="minMax"/>
          <c:max val="100"/>
        </c:scaling>
        <c:delete val="0"/>
        <c:axPos val="b"/>
        <c:majorGridlines>
          <c:spPr>
            <a:ln w="6350" cap="flat">
              <a:solidFill>
                <a:srgbClr val="E3E8EA"/>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5C6B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deck. Detail lives in the notebook and in PIPELINE.md.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verdict. The rest of the deck is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Labels come from the official SWE-bench grading of public leaderboard submissions. No patches were generated or graded by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reported because it was asked for; AUC and per-decision precision are the numbers that drive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 four Verified auto-approvals, and two in five full-set auto-approvals, would merge a patch that does not fix the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deploy as a prioritizer with a human making every final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hand-built feature beyond agreement was a null result. That is why the next steps change the kind of signal, not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chosen for a course: methods you control and can explain first; the LLM judge last, framed as a ceiling with its contamination caveat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 criteria stated up front so Phase 3 is a measurement, not a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txBox="1"/>
          <p:nvPr/>
        </p:nvSpPr>
        <p:spPr>
          <a:xfrm>
            <a:off x="548640" y="822960"/>
            <a:ext cx="8046720" cy="1371600"/>
          </a:xfrm>
          <a:prstGeom prst="rect">
            <a:avLst/>
          </a:prstGeom>
          <a:noFill/>
          <a:ln/>
        </p:spPr>
        <p:txBody>
          <a:bodyPr wrap="square" lIns="0" tIns="0" rIns="0" bIns="0" rtlCol="0" anchor="b"/>
          <a:lstStyle/>
          <a:p>
            <a:pPr indent="0" marL="0">
              <a:buNone/>
            </a:pPr>
            <a:r>
              <a:rPr lang="en-US" sz="3000" b="1" dirty="0">
                <a:solidFill>
                  <a:srgbClr val="FFFFFF"/>
                </a:solidFill>
                <a:latin typeface="Cambria" pitchFamily="34" charset="0"/>
                <a:ea typeface="Cambria" pitchFamily="34" charset="-122"/>
                <a:cs typeface="Cambria" pitchFamily="34" charset="-120"/>
              </a:rPr>
              <a:t>TrustGate: results summary and next steps</a:t>
            </a:r>
            <a:endParaRPr lang="en-US" sz="3000" dirty="0"/>
          </a:p>
        </p:txBody>
      </p:sp>
      <p:sp>
        <p:nvSpPr>
          <p:cNvPr id="3" name="Text 1"/>
          <p:cNvSpPr txBox="1"/>
          <p:nvPr/>
        </p:nvSpPr>
        <p:spPr>
          <a:xfrm>
            <a:off x="548640" y="2377440"/>
            <a:ext cx="6583680" cy="914400"/>
          </a:xfrm>
          <a:prstGeom prst="rect">
            <a:avLst/>
          </a:prstGeom>
          <a:noFill/>
          <a:ln/>
        </p:spPr>
        <p:txBody>
          <a:bodyPr wrap="square" lIns="0" tIns="0" rIns="0" bIns="0" rtlCol="0" anchor="ctr"/>
          <a:lstStyle/>
          <a:p>
            <a:pPr indent="0" marL="0">
              <a:buNone/>
            </a:pPr>
            <a:r>
              <a:rPr lang="en-US" sz="1500" dirty="0">
                <a:solidFill>
                  <a:srgbClr val="CFE3E3"/>
                </a:solidFill>
                <a:latin typeface="Calibri" pitchFamily="34" charset="0"/>
                <a:ea typeface="Calibri" pitchFamily="34" charset="-122"/>
                <a:cs typeface="Calibri" pitchFamily="34" charset="-120"/>
              </a:rPr>
              <a:t>Can a model tell whether a proposed code fix works, before the tests run? What we measured on 2,794 real bugs, what it means, and what to do next.</a:t>
            </a:r>
            <a:endParaRPr lang="en-US" sz="1500" dirty="0"/>
          </a:p>
        </p:txBody>
      </p:sp>
      <p:sp>
        <p:nvSpPr>
          <p:cNvPr id="4" name="Text 2"/>
          <p:cNvSpPr txBox="1"/>
          <p:nvPr/>
        </p:nvSpPr>
        <p:spPr>
          <a:xfrm>
            <a:off x="548640" y="4114800"/>
            <a:ext cx="7772400" cy="365760"/>
          </a:xfrm>
          <a:prstGeom prst="rect">
            <a:avLst/>
          </a:prstGeom>
          <a:noFill/>
          <a:ln/>
        </p:spPr>
        <p:txBody>
          <a:bodyPr wrap="square" lIns="0" tIns="0" rIns="0" bIns="0" rtlCol="0" anchor="ctr"/>
          <a:lstStyle/>
          <a:p>
            <a:pPr indent="0" marL="0">
              <a:buNone/>
            </a:pPr>
            <a:r>
              <a:rPr lang="en-US" sz="1100" dirty="0">
                <a:solidFill>
                  <a:srgbClr val="9FC4C4"/>
                </a:solidFill>
                <a:latin typeface="Calibri" pitchFamily="34" charset="0"/>
                <a:ea typeface="Calibri" pitchFamily="34" charset="-122"/>
                <a:cs typeface="Calibri" pitchFamily="34" charset="-120"/>
              </a:rPr>
              <a:t>Benchmark: SWE-bench Verified (500 issues) and full test set (2,294 issues) · 26,893 graded candidate patches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The verdict in one line</a:t>
            </a:r>
            <a:endParaRPr lang="en-US" sz="2600" dirty="0"/>
          </a:p>
        </p:txBody>
      </p:sp>
      <p:sp>
        <p:nvSpPr>
          <p:cNvPr id="3" name="Shape 1"/>
          <p:cNvSpPr/>
          <p:nvPr/>
        </p:nvSpPr>
        <p:spPr>
          <a:xfrm>
            <a:off x="457200" y="1097280"/>
            <a:ext cx="8229600" cy="960120"/>
          </a:xfrm>
          <a:prstGeom prst="roundRect">
            <a:avLst>
              <a:gd name="adj" fmla="val 9524"/>
            </a:avLst>
          </a:prstGeom>
          <a:solidFill>
            <a:srgbClr val="E6F2F2"/>
          </a:solidFill>
          <a:ln w="12700">
            <a:solidFill>
              <a:srgbClr val="E6F2F2"/>
            </a:solidFill>
            <a:prstDash val="solid"/>
          </a:ln>
        </p:spPr>
      </p:sp>
      <p:sp>
        <p:nvSpPr>
          <p:cNvPr id="4" name="Text 2"/>
          <p:cNvSpPr txBox="1"/>
          <p:nvPr/>
        </p:nvSpPr>
        <p:spPr>
          <a:xfrm>
            <a:off x="685800" y="1097280"/>
            <a:ext cx="7772400" cy="960120"/>
          </a:xfrm>
          <a:prstGeom prst="rect">
            <a:avLst/>
          </a:prstGeom>
          <a:noFill/>
          <a:ln/>
        </p:spPr>
        <p:txBody>
          <a:bodyPr wrap="square" lIns="0" tIns="0" rIns="0" bIns="0" rtlCol="0" anchor="ctr"/>
          <a:lstStyle/>
          <a:p>
            <a:pPr indent="0" marL="0">
              <a:buNone/>
            </a:pPr>
            <a:r>
              <a:rPr lang="en-US" sz="1700" b="1" dirty="0">
                <a:solidFill>
                  <a:srgbClr val="0F4C5C"/>
                </a:solidFill>
                <a:latin typeface="Cambria" pitchFamily="34" charset="0"/>
                <a:ea typeface="Cambria" pitchFamily="34" charset="-122"/>
                <a:cs typeface="Cambria" pitchFamily="34" charset="-120"/>
              </a:rPr>
              <a:t>Useful as a review-queue prioritizer today. </a:t>
            </a:r>
            <a:pPr indent="0" marL="0">
              <a:buNone/>
            </a:pPr>
            <a:r>
              <a:rPr lang="en-US" sz="1700" dirty="0">
                <a:solidFill>
                  <a:srgbClr val="1B2A2F"/>
                </a:solidFill>
                <a:latin typeface="Cambria" pitchFamily="34" charset="0"/>
                <a:ea typeface="Cambria" pitchFamily="34" charset="-122"/>
                <a:cs typeface="Cambria" pitchFamily="34" charset="-120"/>
              </a:rPr>
              <a:t>Not accurate enough to approve code on its own, on either dataset. </a:t>
            </a:r>
            <a:pPr indent="0" marL="0">
              <a:buNone/>
            </a:pPr>
            <a:r>
              <a:rPr lang="en-US" sz="1700" b="1" dirty="0">
                <a:solidFill>
                  <a:srgbClr val="E36414"/>
                </a:solidFill>
                <a:latin typeface="Cambria" pitchFamily="34" charset="0"/>
                <a:ea typeface="Cambria" pitchFamily="34" charset="-122"/>
                <a:cs typeface="Cambria" pitchFamily="34" charset="-120"/>
              </a:rPr>
              <a:t>The bottleneck is the signal available in the patch, not the algorithm.</a:t>
            </a:r>
            <a:endParaRPr lang="en-US" sz="1700" dirty="0"/>
          </a:p>
        </p:txBody>
      </p:sp>
      <p:sp>
        <p:nvSpPr>
          <p:cNvPr id="5" name="Text 3"/>
          <p:cNvSpPr txBox="1"/>
          <p:nvPr/>
        </p:nvSpPr>
        <p:spPr>
          <a:xfrm>
            <a:off x="457200" y="2331720"/>
            <a:ext cx="1920240" cy="685800"/>
          </a:xfrm>
          <a:prstGeom prst="rect">
            <a:avLst/>
          </a:prstGeom>
          <a:noFill/>
          <a:ln/>
        </p:spPr>
        <p:txBody>
          <a:bodyPr wrap="square" lIns="0" tIns="0" rIns="0" bIns="0" rtlCol="0" anchor="b"/>
          <a:lstStyle/>
          <a:p>
            <a:pPr indent="0" marL="0">
              <a:buNone/>
            </a:pPr>
            <a:r>
              <a:rPr lang="en-US" sz="3600" b="1" dirty="0">
                <a:solidFill>
                  <a:srgbClr val="E36414"/>
                </a:solidFill>
                <a:latin typeface="Cambria" pitchFamily="34" charset="0"/>
                <a:ea typeface="Cambria" pitchFamily="34" charset="-122"/>
                <a:cs typeface="Cambria" pitchFamily="34" charset="-120"/>
              </a:rPr>
              <a:t>0.74</a:t>
            </a:r>
            <a:endParaRPr lang="en-US" sz="3600" dirty="0"/>
          </a:p>
        </p:txBody>
      </p:sp>
      <p:sp>
        <p:nvSpPr>
          <p:cNvPr id="6" name="Text 4"/>
          <p:cNvSpPr txBox="1"/>
          <p:nvPr/>
        </p:nvSpPr>
        <p:spPr>
          <a:xfrm>
            <a:off x="457200" y="3017520"/>
            <a:ext cx="1920240" cy="548640"/>
          </a:xfrm>
          <a:prstGeom prst="rect">
            <a:avLst/>
          </a:prstGeom>
          <a:noFill/>
          <a:ln/>
        </p:spPr>
        <p:txBody>
          <a:bodyPr wrap="square" lIns="0" tIns="0" rIns="0" bIns="0" rtlCol="0" anchor="t"/>
          <a:lstStyle/>
          <a:p>
            <a:pPr indent="0" marL="0">
              <a:buNone/>
            </a:pPr>
            <a:r>
              <a:rPr lang="en-US" sz="1100" dirty="0">
                <a:solidFill>
                  <a:srgbClr val="5C6B70"/>
                </a:solidFill>
                <a:latin typeface="Calibri" pitchFamily="34" charset="0"/>
                <a:ea typeface="Calibri" pitchFamily="34" charset="-122"/>
                <a:cs typeface="Calibri" pitchFamily="34" charset="-120"/>
              </a:rPr>
              <a:t>ROC-AUC on Verified, 500 issues</a:t>
            </a:r>
            <a:endParaRPr lang="en-US" sz="1100" dirty="0"/>
          </a:p>
        </p:txBody>
      </p:sp>
      <p:sp>
        <p:nvSpPr>
          <p:cNvPr id="7" name="Text 5"/>
          <p:cNvSpPr txBox="1"/>
          <p:nvPr/>
        </p:nvSpPr>
        <p:spPr>
          <a:xfrm>
            <a:off x="2514600" y="2331720"/>
            <a:ext cx="1920240" cy="685800"/>
          </a:xfrm>
          <a:prstGeom prst="rect">
            <a:avLst/>
          </a:prstGeom>
          <a:noFill/>
          <a:ln/>
        </p:spPr>
        <p:txBody>
          <a:bodyPr wrap="square" lIns="0" tIns="0" rIns="0" bIns="0" rtlCol="0" anchor="b"/>
          <a:lstStyle/>
          <a:p>
            <a:pPr indent="0" marL="0">
              <a:buNone/>
            </a:pPr>
            <a:r>
              <a:rPr lang="en-US" sz="3600" b="1" dirty="0">
                <a:solidFill>
                  <a:srgbClr val="E36414"/>
                </a:solidFill>
                <a:latin typeface="Cambria" pitchFamily="34" charset="0"/>
                <a:ea typeface="Cambria" pitchFamily="34" charset="-122"/>
                <a:cs typeface="Cambria" pitchFamily="34" charset="-120"/>
              </a:rPr>
              <a:t>0.69</a:t>
            </a:r>
            <a:endParaRPr lang="en-US" sz="3600" dirty="0"/>
          </a:p>
        </p:txBody>
      </p:sp>
      <p:sp>
        <p:nvSpPr>
          <p:cNvPr id="8" name="Text 6"/>
          <p:cNvSpPr txBox="1"/>
          <p:nvPr/>
        </p:nvSpPr>
        <p:spPr>
          <a:xfrm>
            <a:off x="2514600" y="3017520"/>
            <a:ext cx="1920240" cy="548640"/>
          </a:xfrm>
          <a:prstGeom prst="rect">
            <a:avLst/>
          </a:prstGeom>
          <a:noFill/>
          <a:ln/>
        </p:spPr>
        <p:txBody>
          <a:bodyPr wrap="square" lIns="0" tIns="0" rIns="0" bIns="0" rtlCol="0" anchor="t"/>
          <a:lstStyle/>
          <a:p>
            <a:pPr indent="0" marL="0">
              <a:buNone/>
            </a:pPr>
            <a:r>
              <a:rPr lang="en-US" sz="1100" dirty="0">
                <a:solidFill>
                  <a:srgbClr val="5C6B70"/>
                </a:solidFill>
                <a:latin typeface="Calibri" pitchFamily="34" charset="0"/>
                <a:ea typeface="Calibri" pitchFamily="34" charset="-122"/>
                <a:cs typeface="Calibri" pitchFamily="34" charset="-120"/>
              </a:rPr>
              <a:t>ROC-AUC on the full set, 2,294 issues</a:t>
            </a:r>
            <a:endParaRPr lang="en-US" sz="1100" dirty="0"/>
          </a:p>
        </p:txBody>
      </p:sp>
      <p:sp>
        <p:nvSpPr>
          <p:cNvPr id="9" name="Text 7"/>
          <p:cNvSpPr txBox="1"/>
          <p:nvPr/>
        </p:nvSpPr>
        <p:spPr>
          <a:xfrm>
            <a:off x="4572000" y="2331720"/>
            <a:ext cx="1920240" cy="685800"/>
          </a:xfrm>
          <a:prstGeom prst="rect">
            <a:avLst/>
          </a:prstGeom>
          <a:noFill/>
          <a:ln/>
        </p:spPr>
        <p:txBody>
          <a:bodyPr wrap="square" lIns="0" tIns="0" rIns="0" bIns="0" rtlCol="0" anchor="b"/>
          <a:lstStyle/>
          <a:p>
            <a:pPr indent="0" marL="0">
              <a:buNone/>
            </a:pPr>
            <a:r>
              <a:rPr lang="en-US" sz="3600" b="1" dirty="0">
                <a:solidFill>
                  <a:srgbClr val="E36414"/>
                </a:solidFill>
                <a:latin typeface="Cambria" pitchFamily="34" charset="0"/>
                <a:ea typeface="Cambria" pitchFamily="34" charset="-122"/>
                <a:cs typeface="Cambria" pitchFamily="34" charset="-120"/>
              </a:rPr>
              <a:t>76%</a:t>
            </a:r>
            <a:endParaRPr lang="en-US" sz="3600" dirty="0"/>
          </a:p>
        </p:txBody>
      </p:sp>
      <p:sp>
        <p:nvSpPr>
          <p:cNvPr id="10" name="Text 8"/>
          <p:cNvSpPr txBox="1"/>
          <p:nvPr/>
        </p:nvSpPr>
        <p:spPr>
          <a:xfrm>
            <a:off x="4572000" y="3017520"/>
            <a:ext cx="1920240" cy="548640"/>
          </a:xfrm>
          <a:prstGeom prst="rect">
            <a:avLst/>
          </a:prstGeom>
          <a:noFill/>
          <a:ln/>
        </p:spPr>
        <p:txBody>
          <a:bodyPr wrap="square" lIns="0" tIns="0" rIns="0" bIns="0" rtlCol="0" anchor="t"/>
          <a:lstStyle/>
          <a:p>
            <a:pPr indent="0" marL="0">
              <a:buNone/>
            </a:pPr>
            <a:r>
              <a:rPr lang="en-US" sz="1100" dirty="0">
                <a:solidFill>
                  <a:srgbClr val="5C6B70"/>
                </a:solidFill>
                <a:latin typeface="Calibri" pitchFamily="34" charset="0"/>
                <a:ea typeface="Calibri" pitchFamily="34" charset="-122"/>
                <a:cs typeface="Calibri" pitchFamily="34" charset="-120"/>
              </a:rPr>
              <a:t>of auto-approvals correct on Verified. Target: 90%+</a:t>
            </a:r>
            <a:endParaRPr lang="en-US" sz="1100" dirty="0"/>
          </a:p>
        </p:txBody>
      </p:sp>
      <p:sp>
        <p:nvSpPr>
          <p:cNvPr id="11" name="Text 9"/>
          <p:cNvSpPr txBox="1"/>
          <p:nvPr/>
        </p:nvSpPr>
        <p:spPr>
          <a:xfrm>
            <a:off x="6629400" y="2331720"/>
            <a:ext cx="1920240" cy="685800"/>
          </a:xfrm>
          <a:prstGeom prst="rect">
            <a:avLst/>
          </a:prstGeom>
          <a:noFill/>
          <a:ln/>
        </p:spPr>
        <p:txBody>
          <a:bodyPr wrap="square" lIns="0" tIns="0" rIns="0" bIns="0" rtlCol="0" anchor="b"/>
          <a:lstStyle/>
          <a:p>
            <a:pPr indent="0" marL="0">
              <a:buNone/>
            </a:pPr>
            <a:r>
              <a:rPr lang="en-US" sz="3600" b="1" dirty="0">
                <a:solidFill>
                  <a:srgbClr val="E36414"/>
                </a:solidFill>
                <a:latin typeface="Cambria" pitchFamily="34" charset="0"/>
                <a:ea typeface="Cambria" pitchFamily="34" charset="-122"/>
                <a:cs typeface="Cambria" pitchFamily="34" charset="-120"/>
              </a:rPr>
              <a:t>93%</a:t>
            </a:r>
            <a:endParaRPr lang="en-US" sz="3600" dirty="0"/>
          </a:p>
        </p:txBody>
      </p:sp>
      <p:sp>
        <p:nvSpPr>
          <p:cNvPr id="12" name="Text 10"/>
          <p:cNvSpPr txBox="1"/>
          <p:nvPr/>
        </p:nvSpPr>
        <p:spPr>
          <a:xfrm>
            <a:off x="6629400" y="3017520"/>
            <a:ext cx="1920240" cy="548640"/>
          </a:xfrm>
          <a:prstGeom prst="rect">
            <a:avLst/>
          </a:prstGeom>
          <a:noFill/>
          <a:ln/>
        </p:spPr>
        <p:txBody>
          <a:bodyPr wrap="square" lIns="0" tIns="0" rIns="0" bIns="0" rtlCol="0" anchor="t"/>
          <a:lstStyle/>
          <a:p>
            <a:pPr indent="0" marL="0">
              <a:buNone/>
            </a:pPr>
            <a:r>
              <a:rPr lang="en-US" sz="1100" dirty="0">
                <a:solidFill>
                  <a:srgbClr val="5C6B70"/>
                </a:solidFill>
                <a:latin typeface="Calibri" pitchFamily="34" charset="0"/>
                <a:ea typeface="Calibri" pitchFamily="34" charset="-122"/>
                <a:cs typeface="Calibri" pitchFamily="34" charset="-120"/>
              </a:rPr>
              <a:t>of auto-rejections correct on Verified</a:t>
            </a:r>
            <a:endParaRPr lang="en-US" sz="1100" dirty="0"/>
          </a:p>
        </p:txBody>
      </p:sp>
      <p:sp>
        <p:nvSpPr>
          <p:cNvPr id="13" name="Text 11"/>
          <p:cNvSpPr txBox="1"/>
          <p:nvPr/>
        </p:nvSpPr>
        <p:spPr>
          <a:xfrm>
            <a:off x="457200" y="3840480"/>
            <a:ext cx="8229600" cy="640080"/>
          </a:xfrm>
          <a:prstGeom prst="rect">
            <a:avLst/>
          </a:prstGeom>
          <a:noFill/>
          <a:ln/>
        </p:spPr>
        <p:txBody>
          <a:bodyPr wrap="square" lIns="0" tIns="0" rIns="0" bIns="0" rtlCol="0" anchor="t"/>
          <a:lstStyle/>
          <a:p>
            <a:pPr indent="0" marL="0">
              <a:buNone/>
            </a:pPr>
            <a:r>
              <a:rPr lang="en-US" sz="1100" i="1" dirty="0">
                <a:solidFill>
                  <a:srgbClr val="5C6B70"/>
                </a:solidFill>
                <a:latin typeface="Calibri" pitchFamily="34" charset="0"/>
                <a:ea typeface="Calibri" pitchFamily="34" charset="-122"/>
                <a:cs typeface="Calibri" pitchFamily="34" charset="-120"/>
              </a:rPr>
              <a:t>ROC-AUC is the chance the model ranks a correct patch above a broken one. 0.5 is coin-flip, 1.0 is perfect. Both intervals exclude the coin flip by a wide margin.</a:t>
            </a:r>
            <a:endParaRPr lang="en-US" sz="1100" dirty="0"/>
          </a:p>
        </p:txBody>
      </p:sp>
      <p:sp>
        <p:nvSpPr>
          <p:cNvPr id="14" name="Text 12"/>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C6B70"/>
                </a:solidFill>
                <a:latin typeface="Calibri" pitchFamily="34" charset="0"/>
                <a:ea typeface="Calibri" pitchFamily="34" charset="-122"/>
                <a:cs typeface="Calibri" pitchFamily="34" charset="-120"/>
              </a:rPr>
              <a:t>TrustGate results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What we measured</a:t>
            </a:r>
            <a:endParaRPr lang="en-US" sz="2600" dirty="0"/>
          </a:p>
        </p:txBody>
      </p:sp>
      <p:sp>
        <p:nvSpPr>
          <p:cNvPr id="3" name="Text 1"/>
          <p:cNvSpPr txBox="1"/>
          <p:nvPr/>
        </p:nvSpPr>
        <p:spPr>
          <a:xfrm>
            <a:off x="457200" y="1005840"/>
            <a:ext cx="8229600" cy="365760"/>
          </a:xfrm>
          <a:prstGeom prst="rect">
            <a:avLst/>
          </a:prstGeom>
          <a:noFill/>
          <a:ln/>
        </p:spPr>
        <p:txBody>
          <a:bodyPr wrap="square" lIns="0" tIns="0" rIns="0" bIns="0" rtlCol="0" anchor="ctr"/>
          <a:lstStyle/>
          <a:p>
            <a:pPr indent="0" marL="0">
              <a:buNone/>
            </a:pPr>
            <a:r>
              <a:rPr lang="en-US" sz="1400" i="1" dirty="0">
                <a:solidFill>
                  <a:srgbClr val="5C6B70"/>
                </a:solidFill>
                <a:latin typeface="Calibri" pitchFamily="34" charset="0"/>
                <a:ea typeface="Calibri" pitchFamily="34" charset="-122"/>
                <a:cs typeface="Calibri" pitchFamily="34" charset="-120"/>
              </a:rPr>
              <a:t>Real bugs, real AI-written fixes, real test verdicts. Two datasets, same pipeline.</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2011680"/>
                <a:gridCol w="3108960"/>
                <a:gridCol w="3108960"/>
              </a:tblGrid>
              <a:tr h="347472">
                <a:tc>
                  <a:txBody>
                    <a:bodyPr/>
                    <a:lstStyle/>
                    <a:p>
                      <a:pPr algn="ctr" indent="0" marL="0">
                        <a:buNone/>
                      </a:pPr>
                      <a:endParaRPr lang="en-US" sz="110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F4C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SWE-bench Verified</a:t>
                      </a:r>
                      <a:endParaRPr lang="en-US" sz="110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F4C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SWE-bench full</a:t>
                      </a:r>
                      <a:endParaRPr lang="en-US" sz="110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F4C5C"/>
                    </a:solidFill>
                  </a:tcPr>
                </a:tc>
              </a:tr>
              <a:tr h="347472">
                <a:tc>
                  <a:txBody>
                    <a:bodyPr/>
                    <a:lstStyle/>
                    <a:p>
                      <a:pPr indent="0" marL="0">
                        <a:buNone/>
                      </a:pPr>
                      <a:r>
                        <a:rPr lang="en-US" sz="1050" dirty="0">
                          <a:solidFill>
                            <a:srgbClr val="1B2A2F"/>
                          </a:solidFill>
                          <a:latin typeface="Calibri" pitchFamily="34" charset="0"/>
                          <a:ea typeface="Calibri" pitchFamily="34" charset="-122"/>
                          <a:cs typeface="Calibri" pitchFamily="34" charset="-120"/>
                        </a:rPr>
                        <a:t>Bugs</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500, human-validated</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2,294, everything</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47472">
                <a:tc>
                  <a:txBody>
                    <a:bodyPr/>
                    <a:lstStyle/>
                    <a:p>
                      <a:pPr indent="0" marL="0">
                        <a:buNone/>
                      </a:pPr>
                      <a:r>
                        <a:rPr lang="en-US" sz="1050" dirty="0">
                          <a:solidFill>
                            <a:srgbClr val="1B2A2F"/>
                          </a:solidFill>
                          <a:latin typeface="Calibri" pitchFamily="34" charset="0"/>
                          <a:ea typeface="Calibri" pitchFamily="34" charset="-122"/>
                          <a:cs typeface="Calibri" pitchFamily="34" charset="-120"/>
                        </a:rPr>
                        <a:t>Candidate patches</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4,908</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21,985</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47472">
                <a:tc>
                  <a:txBody>
                    <a:bodyPr/>
                    <a:lstStyle/>
                    <a:p>
                      <a:pPr indent="0" marL="0">
                        <a:buNone/>
                      </a:pPr>
                      <a:r>
                        <a:rPr lang="en-US" sz="1050" dirty="0">
                          <a:solidFill>
                            <a:srgbClr val="1B2A2F"/>
                          </a:solidFill>
                          <a:latin typeface="Calibri" pitchFamily="34" charset="0"/>
                          <a:ea typeface="Calibri" pitchFamily="34" charset="-122"/>
                          <a:cs typeface="Calibri" pitchFamily="34" charset="-120"/>
                        </a:rPr>
                        <a:t>Who wrote them</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10 AI coding systems, 7 model families</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10 systems, older generation</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47472">
                <a:tc>
                  <a:txBody>
                    <a:bodyPr/>
                    <a:lstStyle/>
                    <a:p>
                      <a:pPr indent="0" marL="0">
                        <a:buNone/>
                      </a:pPr>
                      <a:r>
                        <a:rPr lang="en-US" sz="1050" dirty="0">
                          <a:solidFill>
                            <a:srgbClr val="1B2A2F"/>
                          </a:solidFill>
                          <a:latin typeface="Calibri" pitchFamily="34" charset="0"/>
                          <a:ea typeface="Calibri" pitchFamily="34" charset="-122"/>
                          <a:cs typeface="Calibri" pitchFamily="34" charset="-120"/>
                        </a:rPr>
                        <a:t>Label</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1 if the patch passed the bug's tests, else 0</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47472">
                <a:tc>
                  <a:txBody>
                    <a:bodyPr/>
                    <a:lstStyle/>
                    <a:p>
                      <a:pPr indent="0" marL="0">
                        <a:buNone/>
                      </a:pPr>
                      <a:r>
                        <a:rPr lang="en-US" sz="1050" dirty="0">
                          <a:solidFill>
                            <a:srgbClr val="1B2A2F"/>
                          </a:solidFill>
                          <a:latin typeface="Calibri" pitchFamily="34" charset="0"/>
                          <a:ea typeface="Calibri" pitchFamily="34" charset="-122"/>
                          <a:cs typeface="Calibri" pitchFamily="34" charset="-120"/>
                        </a:rPr>
                        <a:t>Patches that worked</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58%</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47472">
                <a:tc>
                  <a:txBody>
                    <a:bodyPr/>
                    <a:lstStyle/>
                    <a:p>
                      <a:pPr indent="0" marL="0">
                        <a:buNone/>
                      </a:pPr>
                      <a:r>
                        <a:rPr lang="en-US" sz="1050" dirty="0">
                          <a:solidFill>
                            <a:srgbClr val="1B2A2F"/>
                          </a:solidFill>
                          <a:latin typeface="Calibri" pitchFamily="34" charset="0"/>
                          <a:ea typeface="Calibri" pitchFamily="34" charset="-122"/>
                          <a:cs typeface="Calibri" pitchFamily="34" charset="-120"/>
                        </a:rPr>
                        <a:t>Held-out test set</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100 bugs, 986 patches</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459 bugs, 4,414 patches</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bl>
          </a:graphicData>
        </a:graphic>
      </p:graphicFrame>
      <p:sp>
        <p:nvSpPr>
          <p:cNvPr id="5" name="Text 2"/>
          <p:cNvSpPr txBox="1"/>
          <p:nvPr/>
        </p:nvSpPr>
        <p:spPr>
          <a:xfrm>
            <a:off x="457200" y="3977640"/>
            <a:ext cx="8229600" cy="640080"/>
          </a:xfrm>
          <a:prstGeom prst="rect">
            <a:avLst/>
          </a:prstGeom>
          <a:noFill/>
          <a:ln/>
        </p:spPr>
        <p:txBody>
          <a:bodyPr wrap="square" lIns="0" tIns="0" rIns="0" bIns="0" rtlCol="0" anchor="t"/>
          <a:lstStyle/>
          <a:p>
            <a:pPr indent="0" marL="0">
              <a:buNone/>
            </a:pPr>
            <a:r>
              <a:rPr lang="en-US" sz="1100" dirty="0">
                <a:solidFill>
                  <a:srgbClr val="1B2A2F"/>
                </a:solidFill>
                <a:latin typeface="Calibri" pitchFamily="34" charset="0"/>
                <a:ea typeface="Calibri" pitchFamily="34" charset="-122"/>
                <a:cs typeface="Calibri" pitchFamily="34" charset="-120"/>
              </a:rPr>
              <a:t>The model only sees the patch: its size and shape, whether it parses and compiles, how much it agrees with the other candidates for the same bug, and how it relates to the bug text. It never sees the tests, the real fix, or which system wrote it.</a:t>
            </a:r>
            <a:endParaRPr lang="en-US" sz="1100" dirty="0"/>
          </a:p>
        </p:txBody>
      </p:sp>
      <p:sp>
        <p:nvSpPr>
          <p:cNvPr id="6" name="Text 3"/>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C6B70"/>
                </a:solidFill>
                <a:latin typeface="Calibri" pitchFamily="34" charset="0"/>
                <a:ea typeface="Calibri" pitchFamily="34" charset="-122"/>
                <a:cs typeface="Calibri" pitchFamily="34" charset="-120"/>
              </a:rPr>
              <a:t>TrustGate results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Accuracy, next to the score you get for free</a:t>
            </a:r>
            <a:endParaRPr lang="en-US" sz="2600" dirty="0"/>
          </a:p>
        </p:txBody>
      </p:sp>
      <p:sp>
        <p:nvSpPr>
          <p:cNvPr id="3" name="Text 1"/>
          <p:cNvSpPr txBox="1"/>
          <p:nvPr/>
        </p:nvSpPr>
        <p:spPr>
          <a:xfrm>
            <a:off x="457200" y="1005840"/>
            <a:ext cx="8229600" cy="365760"/>
          </a:xfrm>
          <a:prstGeom prst="rect">
            <a:avLst/>
          </a:prstGeom>
          <a:noFill/>
          <a:ln/>
        </p:spPr>
        <p:txBody>
          <a:bodyPr wrap="square" lIns="0" tIns="0" rIns="0" bIns="0" rtlCol="0" anchor="ctr"/>
          <a:lstStyle/>
          <a:p>
            <a:pPr indent="0" marL="0">
              <a:buNone/>
            </a:pPr>
            <a:r>
              <a:rPr lang="en-US" sz="1400" i="1" dirty="0">
                <a:solidFill>
                  <a:srgbClr val="5C6B70"/>
                </a:solidFill>
                <a:latin typeface="Calibri" pitchFamily="34" charset="0"/>
                <a:ea typeface="Calibri" pitchFamily="34" charset="-122"/>
                <a:cs typeface="Calibri" pitchFamily="34" charset="-120"/>
              </a:rPr>
              <a:t>Always guessing the majority class sets the floor. Only the gap above it is real.</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5120640" cy="914400"/>
        </p:xfrm>
        <a:graphic>
          <a:graphicData uri="http://schemas.openxmlformats.org/drawingml/2006/table">
            <a:tbl>
              <a:tblPr/>
              <a:tblGrid>
                <a:gridCol w="2377440"/>
                <a:gridCol w="1371600"/>
                <a:gridCol w="1371600"/>
              </a:tblGrid>
              <a:tr h="365760">
                <a:tc>
                  <a:txBody>
                    <a:bodyPr/>
                    <a:lstStyle/>
                    <a:p>
                      <a:pPr algn="ctr" indent="0" marL="0">
                        <a:buNone/>
                      </a:pPr>
                      <a:endParaRPr lang="en-US" sz="110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F4C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Verified</a:t>
                      </a:r>
                      <a:endParaRPr lang="en-US" sz="110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F4C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Full</a:t>
                      </a:r>
                      <a:endParaRPr lang="en-US" sz="110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F4C5C"/>
                    </a:solidFill>
                  </a:tcPr>
                </a:tc>
              </a:tr>
              <a:tr h="365760">
                <a:tc>
                  <a:txBody>
                    <a:bodyPr/>
                    <a:lstStyle/>
                    <a:p>
                      <a:pPr indent="0" marL="0">
                        <a:buNone/>
                      </a:pPr>
                      <a:r>
                        <a:rPr lang="en-US" sz="1050" dirty="0">
                          <a:solidFill>
                            <a:srgbClr val="1B2A2F"/>
                          </a:solidFill>
                          <a:latin typeface="Calibri" pitchFamily="34" charset="0"/>
                          <a:ea typeface="Calibri" pitchFamily="34" charset="-122"/>
                          <a:cs typeface="Calibri" pitchFamily="34" charset="-120"/>
                        </a:rPr>
                        <a:t>Always guess the majority class</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52.8%</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66.7%</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65760">
                <a:tc>
                  <a:txBody>
                    <a:bodyPr/>
                    <a:lstStyle/>
                    <a:p>
                      <a:pPr indent="0" marL="0">
                        <a:buNone/>
                      </a:pPr>
                      <a:r>
                        <a:rPr lang="en-US" sz="1050" dirty="0">
                          <a:solidFill>
                            <a:srgbClr val="1B2A2F"/>
                          </a:solidFill>
                          <a:latin typeface="Calibri" pitchFamily="34" charset="0"/>
                          <a:ea typeface="Calibri" pitchFamily="34" charset="-122"/>
                          <a:cs typeface="Calibri" pitchFamily="34" charset="-120"/>
                        </a:rPr>
                        <a:t>Patch-shape baseline, logistic</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54.2%</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47.4%</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65760">
                <a:tc>
                  <a:txBody>
                    <a:bodyPr/>
                    <a:lstStyle/>
                    <a:p>
                      <a:pPr indent="0" marL="0">
                        <a:buNone/>
                      </a:pPr>
                      <a:r>
                        <a:rPr lang="en-US" sz="1050" dirty="0">
                          <a:solidFill>
                            <a:srgbClr val="1B2A2F"/>
                          </a:solidFill>
                          <a:latin typeface="Calibri" pitchFamily="34" charset="0"/>
                          <a:ea typeface="Calibri" pitchFamily="34" charset="-122"/>
                          <a:cs typeface="Calibri" pitchFamily="34" charset="-120"/>
                        </a:rPr>
                        <a:t>Best model, gradient boosting</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b="1" dirty="0">
                          <a:solidFill>
                            <a:srgbClr val="E36414"/>
                          </a:solidFill>
                          <a:latin typeface="Calibri" pitchFamily="34" charset="0"/>
                          <a:ea typeface="Calibri" pitchFamily="34" charset="-122"/>
                          <a:cs typeface="Calibri" pitchFamily="34" charset="-120"/>
                        </a:rPr>
                        <a:t>67.3%</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b="1" dirty="0">
                          <a:solidFill>
                            <a:srgbClr val="E36414"/>
                          </a:solidFill>
                          <a:latin typeface="Calibri" pitchFamily="34" charset="0"/>
                          <a:ea typeface="Calibri" pitchFamily="34" charset="-122"/>
                          <a:cs typeface="Calibri" pitchFamily="34" charset="-120"/>
                        </a:rPr>
                        <a:t>68.6%</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65760">
                <a:tc>
                  <a:txBody>
                    <a:bodyPr/>
                    <a:lstStyle/>
                    <a:p>
                      <a:pPr indent="0" marL="0">
                        <a:buNone/>
                      </a:pPr>
                      <a:r>
                        <a:rPr lang="en-US" sz="1050" dirty="0">
                          <a:solidFill>
                            <a:srgbClr val="1B2A2F"/>
                          </a:solidFill>
                          <a:latin typeface="Calibri" pitchFamily="34" charset="0"/>
                          <a:ea typeface="Calibri" pitchFamily="34" charset="-122"/>
                          <a:cs typeface="Calibri" pitchFamily="34" charset="-120"/>
                        </a:rPr>
                        <a:t>Gain over the floor</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b="1" dirty="0">
                          <a:solidFill>
                            <a:srgbClr val="1B2A2F"/>
                          </a:solidFill>
                          <a:latin typeface="Calibri" pitchFamily="34" charset="0"/>
                          <a:ea typeface="Calibri" pitchFamily="34" charset="-122"/>
                          <a:cs typeface="Calibri" pitchFamily="34" charset="-120"/>
                        </a:rPr>
                        <a:t>+14.5 points</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b="1" dirty="0">
                          <a:solidFill>
                            <a:srgbClr val="1B2A2F"/>
                          </a:solidFill>
                          <a:latin typeface="Calibri" pitchFamily="34" charset="0"/>
                          <a:ea typeface="Calibri" pitchFamily="34" charset="-122"/>
                          <a:cs typeface="Calibri" pitchFamily="34" charset="-120"/>
                        </a:rPr>
                        <a:t>+1.9 points</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65760">
                <a:tc>
                  <a:txBody>
                    <a:bodyPr/>
                    <a:lstStyle/>
                    <a:p>
                      <a:pPr indent="0" marL="0">
                        <a:buNone/>
                      </a:pPr>
                      <a:r>
                        <a:rPr lang="en-US" sz="1050" dirty="0">
                          <a:solidFill>
                            <a:srgbClr val="1B2A2F"/>
                          </a:solidFill>
                          <a:latin typeface="Calibri" pitchFamily="34" charset="0"/>
                          <a:ea typeface="Calibri" pitchFamily="34" charset="-122"/>
                          <a:cs typeface="Calibri" pitchFamily="34" charset="-120"/>
                        </a:rPr>
                        <a:t>ROC-AUC, 95% interval</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0.74  (0.69 to 0.79)</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0.69  (0.66 to 0.72)</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bl>
          </a:graphicData>
        </a:graphic>
      </p:graphicFrame>
      <p:sp>
        <p:nvSpPr>
          <p:cNvPr id="5" name="Shape 2"/>
          <p:cNvSpPr/>
          <p:nvPr/>
        </p:nvSpPr>
        <p:spPr>
          <a:xfrm>
            <a:off x="5852160" y="1463040"/>
            <a:ext cx="2834640" cy="2194560"/>
          </a:xfrm>
          <a:prstGeom prst="roundRect">
            <a:avLst>
              <a:gd name="adj" fmla="val 5000"/>
            </a:avLst>
          </a:prstGeom>
          <a:solidFill>
            <a:srgbClr val="FBEDE4"/>
          </a:solidFill>
          <a:ln w="12700">
            <a:solidFill>
              <a:srgbClr val="FBEDE4"/>
            </a:solidFill>
            <a:prstDash val="solid"/>
          </a:ln>
        </p:spPr>
      </p:sp>
      <p:sp>
        <p:nvSpPr>
          <p:cNvPr id="6" name="Text 3"/>
          <p:cNvSpPr txBox="1"/>
          <p:nvPr/>
        </p:nvSpPr>
        <p:spPr>
          <a:xfrm>
            <a:off x="6035040" y="1600200"/>
            <a:ext cx="2468880" cy="365760"/>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Why full-set accuracy misleads</a:t>
            </a:r>
            <a:endParaRPr lang="en-US" sz="1200" dirty="0"/>
          </a:p>
        </p:txBody>
      </p:sp>
      <p:sp>
        <p:nvSpPr>
          <p:cNvPr id="7" name="Text 4"/>
          <p:cNvSpPr txBox="1"/>
          <p:nvPr/>
        </p:nvSpPr>
        <p:spPr>
          <a:xfrm>
            <a:off x="6035040" y="2011680"/>
            <a:ext cx="2468880" cy="1554480"/>
          </a:xfrm>
          <a:prstGeom prst="rect">
            <a:avLst/>
          </a:prstGeom>
          <a:noFill/>
          <a:ln/>
        </p:spPr>
        <p:txBody>
          <a:bodyPr wrap="square" lIns="0" tIns="0" rIns="0" bIns="0" rtlCol="0" anchor="t"/>
          <a:lstStyle/>
          <a:p>
            <a:pPr indent="0" marL="0">
              <a:buNone/>
            </a:pPr>
            <a:r>
              <a:rPr lang="en-US" sz="1050" dirty="0">
                <a:solidFill>
                  <a:srgbClr val="1B2A2F"/>
                </a:solidFill>
                <a:latin typeface="Calibri" pitchFamily="34" charset="0"/>
                <a:ea typeface="Calibri" pitchFamily="34" charset="-122"/>
                <a:cs typeface="Calibri" pitchFamily="34" charset="-120"/>
              </a:rPr>
              <a:t>Two thirds of full-set patches are broken, so saying "broken" to everything scores 66.7%. The model's 68.6% is barely above that. Its ranking ability (AUC 0.69) is real, but turning it into whole-patch verdicts adds little there.</a:t>
            </a:r>
            <a:endParaRPr lang="en-US" sz="1050" dirty="0"/>
          </a:p>
        </p:txBody>
      </p:sp>
      <p:sp>
        <p:nvSpPr>
          <p:cNvPr id="8" name="Text 5"/>
          <p:cNvSpPr txBox="1"/>
          <p:nvPr/>
        </p:nvSpPr>
        <p:spPr>
          <a:xfrm>
            <a:off x="457200" y="3840480"/>
            <a:ext cx="8229600" cy="640080"/>
          </a:xfrm>
          <a:prstGeom prst="rect">
            <a:avLst/>
          </a:prstGeom>
          <a:noFill/>
          <a:ln/>
        </p:spPr>
        <p:txBody>
          <a:bodyPr wrap="square" lIns="0" tIns="0" rIns="0" bIns="0" rtlCol="0" anchor="t"/>
          <a:lstStyle/>
          <a:p>
            <a:pPr indent="0" marL="0">
              <a:buNone/>
            </a:pPr>
            <a:r>
              <a:rPr lang="en-US" sz="1100" dirty="0">
                <a:solidFill>
                  <a:srgbClr val="1B2A2F"/>
                </a:solidFill>
                <a:latin typeface="Calibri" pitchFamily="34" charset="0"/>
                <a:ea typeface="Calibri" pitchFamily="34" charset="-122"/>
                <a:cs typeface="Calibri" pitchFamily="34" charset="-120"/>
              </a:rPr>
              <a:t>On Verified the model is clearly useful: 67% against a 53% floor. The logistic baseline falls below the full-set floor because it trades accuracy for recall by design.</a:t>
            </a:r>
            <a:endParaRPr lang="en-US" sz="1100" dirty="0"/>
          </a:p>
        </p:txBody>
      </p:sp>
      <p:sp>
        <p:nvSpPr>
          <p:cNvPr id="9" name="Text 6"/>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C6B70"/>
                </a:solidFill>
                <a:latin typeface="Calibri" pitchFamily="34" charset="0"/>
                <a:ea typeface="Calibri" pitchFamily="34" charset="-122"/>
                <a:cs typeface="Calibri" pitchFamily="34" charset="-120"/>
              </a:rPr>
              <a:t>TrustGate results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How often each automatic decision is right</a:t>
            </a:r>
            <a:endParaRPr lang="en-US" sz="2600" dirty="0"/>
          </a:p>
        </p:txBody>
      </p:sp>
      <p:sp>
        <p:nvSpPr>
          <p:cNvPr id="3" name="Text 1"/>
          <p:cNvSpPr txBox="1"/>
          <p:nvPr/>
        </p:nvSpPr>
        <p:spPr>
          <a:xfrm>
            <a:off x="457200" y="1005840"/>
            <a:ext cx="8229600" cy="365760"/>
          </a:xfrm>
          <a:prstGeom prst="rect">
            <a:avLst/>
          </a:prstGeom>
          <a:noFill/>
          <a:ln/>
        </p:spPr>
        <p:txBody>
          <a:bodyPr wrap="square" lIns="0" tIns="0" rIns="0" bIns="0" rtlCol="0" anchor="ctr"/>
          <a:lstStyle/>
          <a:p>
            <a:pPr indent="0" marL="0">
              <a:buNone/>
            </a:pPr>
            <a:r>
              <a:rPr lang="en-US" sz="1400" i="1" dirty="0">
                <a:solidFill>
                  <a:srgbClr val="5C6B70"/>
                </a:solidFill>
                <a:latin typeface="Calibri" pitchFamily="34" charset="0"/>
                <a:ea typeface="Calibri" pitchFamily="34" charset="-122"/>
                <a:cs typeface="Calibri" pitchFamily="34" charset="-120"/>
              </a:rPr>
              <a:t>What matters is the precision of what the gate decides, and how much it decides.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1463040"/>
                <a:gridCol w="1691640"/>
                <a:gridCol w="1691640"/>
                <a:gridCol w="1691640"/>
                <a:gridCol w="1691640"/>
              </a:tblGrid>
              <a:tr h="38404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F4C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Verified: share decided</a:t>
                      </a:r>
                      <a:endParaRPr lang="en-US" sz="110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F4C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Verified: correct</a:t>
                      </a:r>
                      <a:endParaRPr lang="en-US" sz="110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F4C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Full: share decided</a:t>
                      </a:r>
                      <a:endParaRPr lang="en-US" sz="110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F4C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Full: correct</a:t>
                      </a:r>
                      <a:endParaRPr lang="en-US" sz="110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F4C5C"/>
                    </a:solidFill>
                  </a:tcPr>
                </a:tc>
              </a:tr>
              <a:tr h="384048">
                <a:tc>
                  <a:txBody>
                    <a:bodyPr/>
                    <a:lstStyle/>
                    <a:p>
                      <a:pPr indent="0" marL="0">
                        <a:buNone/>
                      </a:pPr>
                      <a:r>
                        <a:rPr lang="en-US" sz="1050" dirty="0">
                          <a:solidFill>
                            <a:srgbClr val="1B2A2F"/>
                          </a:solidFill>
                          <a:latin typeface="Calibri" pitchFamily="34" charset="0"/>
                          <a:ea typeface="Calibri" pitchFamily="34" charset="-122"/>
                          <a:cs typeface="Calibri" pitchFamily="34" charset="-120"/>
                        </a:rPr>
                        <a:t>Auto-approve</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76%</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58%</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84048">
                <a:tc>
                  <a:txBody>
                    <a:bodyPr/>
                    <a:lstStyle/>
                    <a:p>
                      <a:pPr indent="0" marL="0">
                        <a:buNone/>
                      </a:pPr>
                      <a:r>
                        <a:rPr lang="en-US" sz="1050" dirty="0">
                          <a:solidFill>
                            <a:srgbClr val="1B2A2F"/>
                          </a:solidFill>
                          <a:latin typeface="Calibri" pitchFamily="34" charset="0"/>
                          <a:ea typeface="Calibri" pitchFamily="34" charset="-122"/>
                          <a:cs typeface="Calibri" pitchFamily="34" charset="-120"/>
                        </a:rPr>
                        <a:t>Auto-reject</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93%</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89%</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84048">
                <a:tc>
                  <a:txBody>
                    <a:bodyPr/>
                    <a:lstStyle/>
                    <a:p>
                      <a:pPr indent="0" marL="0">
                        <a:buNone/>
                      </a:pPr>
                      <a:r>
                        <a:rPr lang="en-US" sz="1050" dirty="0">
                          <a:solidFill>
                            <a:srgbClr val="1B2A2F"/>
                          </a:solidFill>
                          <a:latin typeface="Calibri" pitchFamily="34" charset="0"/>
                          <a:ea typeface="Calibri" pitchFamily="34" charset="-122"/>
                          <a:cs typeface="Calibri" pitchFamily="34" charset="-120"/>
                        </a:rPr>
                        <a:t>Human review</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50" dirty="0">
                          <a:solidFill>
                            <a:srgbClr val="1B2A2F"/>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54864" marR="54864" marT="54864" marB="54864"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bl>
          </a:graphicData>
        </a:graphic>
      </p:graphicFrame>
      <p:graphicFrame>
        <p:nvGraphicFramePr>
          <p:cNvPr id="5" name="Chart 0" descr=""/>
          <p:cNvGraphicFramePr/>
          <p:nvPr/>
        </p:nvGraphicFramePr>
        <p:xfrm>
          <a:off x="457200" y="3154680"/>
          <a:ext cx="4937760" cy="155448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669280" y="3154680"/>
            <a:ext cx="3017520" cy="1508760"/>
          </a:xfrm>
          <a:prstGeom prst="roundRect">
            <a:avLst>
              <a:gd name="adj" fmla="val 7273"/>
            </a:avLst>
          </a:prstGeom>
          <a:solidFill>
            <a:srgbClr val="FBEDE4"/>
          </a:solidFill>
          <a:ln w="12700">
            <a:solidFill>
              <a:srgbClr val="FBEDE4"/>
            </a:solidFill>
            <a:prstDash val="solid"/>
          </a:ln>
        </p:spPr>
      </p:sp>
      <p:sp>
        <p:nvSpPr>
          <p:cNvPr id="7" name="Text 3"/>
          <p:cNvSpPr txBox="1"/>
          <p:nvPr/>
        </p:nvSpPr>
        <p:spPr>
          <a:xfrm>
            <a:off x="5852160" y="3291840"/>
            <a:ext cx="2651760" cy="365760"/>
          </a:xfrm>
          <a:prstGeom prst="rect">
            <a:avLst/>
          </a:prstGeom>
          <a:noFill/>
          <a:ln/>
        </p:spPr>
        <p:txBody>
          <a:bodyPr wrap="square" lIns="0" tIns="0" rIns="0" bIns="0" rtlCol="0" anchor="ctr"/>
          <a:lstStyle/>
          <a:p>
            <a:pPr indent="0" marL="0">
              <a:buNone/>
            </a:pPr>
            <a:r>
              <a:rPr lang="en-US" sz="1250" b="1" dirty="0">
                <a:solidFill>
                  <a:srgbClr val="0F4C5C"/>
                </a:solidFill>
                <a:latin typeface="Cambria" pitchFamily="34" charset="0"/>
                <a:ea typeface="Cambria" pitchFamily="34" charset="-122"/>
                <a:cs typeface="Cambria" pitchFamily="34" charset="-120"/>
              </a:rPr>
              <a:t>Bar for an approver: 90 to 95%</a:t>
            </a:r>
            <a:endParaRPr lang="en-US" sz="1250" dirty="0"/>
          </a:p>
        </p:txBody>
      </p:sp>
      <p:sp>
        <p:nvSpPr>
          <p:cNvPr id="8" name="Text 4"/>
          <p:cNvSpPr txBox="1"/>
          <p:nvPr/>
        </p:nvSpPr>
        <p:spPr>
          <a:xfrm>
            <a:off x="5852160" y="3611880"/>
            <a:ext cx="2651760" cy="1005840"/>
          </a:xfrm>
          <a:prstGeom prst="rect">
            <a:avLst/>
          </a:prstGeom>
          <a:noFill/>
          <a:ln/>
        </p:spPr>
        <p:txBody>
          <a:bodyPr wrap="square" lIns="0" tIns="0" rIns="0" bIns="0" rtlCol="0" anchor="t"/>
          <a:lstStyle/>
          <a:p>
            <a:pPr indent="0" marL="0">
              <a:buNone/>
            </a:pPr>
            <a:r>
              <a:rPr lang="en-US" sz="950" dirty="0">
                <a:solidFill>
                  <a:srgbClr val="1B2A2F"/>
                </a:solidFill>
                <a:latin typeface="Calibri" pitchFamily="34" charset="0"/>
                <a:ea typeface="Calibri" pitchFamily="34" charset="-122"/>
                <a:cs typeface="Calibri" pitchFamily="34" charset="-120"/>
              </a:rPr>
              <a:t>Thresholds were chosen on validation data to hit 90% precision. On Verified they reached 91% there and 76% on the untouched test bugs. On the full set no threshold reaches 90% at all.</a:t>
            </a:r>
            <a:endParaRPr lang="en-US" sz="950" dirty="0"/>
          </a:p>
        </p:txBody>
      </p:sp>
      <p:sp>
        <p:nvSpPr>
          <p:cNvPr id="9" name="Text 5"/>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C6B70"/>
                </a:solidFill>
                <a:latin typeface="Calibri" pitchFamily="34" charset="0"/>
                <a:ea typeface="Calibri" pitchFamily="34" charset="-122"/>
                <a:cs typeface="Calibri" pitchFamily="34" charset="-120"/>
              </a:rPr>
              <a:t>TrustGate results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Is it adequate for use? Depends on the job</a:t>
            </a:r>
            <a:endParaRPr lang="en-US" sz="2600" dirty="0"/>
          </a:p>
        </p:txBody>
      </p:sp>
      <p:sp>
        <p:nvSpPr>
          <p:cNvPr id="3" name="Shape 1"/>
          <p:cNvSpPr/>
          <p:nvPr/>
        </p:nvSpPr>
        <p:spPr>
          <a:xfrm>
            <a:off x="457200" y="1188720"/>
            <a:ext cx="1975104" cy="3291840"/>
          </a:xfrm>
          <a:prstGeom prst="roundRect">
            <a:avLst>
              <a:gd name="adj" fmla="val 5556"/>
            </a:avLst>
          </a:prstGeom>
          <a:solidFill>
            <a:srgbClr val="F4F7F7"/>
          </a:solidFill>
          <a:ln w="12700">
            <a:solidFill>
              <a:srgbClr val="F4F7F7"/>
            </a:solidFill>
            <a:prstDash val="solid"/>
          </a:ln>
        </p:spPr>
      </p:sp>
      <p:sp>
        <p:nvSpPr>
          <p:cNvPr id="4" name="Text 2"/>
          <p:cNvSpPr txBox="1"/>
          <p:nvPr/>
        </p:nvSpPr>
        <p:spPr>
          <a:xfrm>
            <a:off x="594360" y="1325880"/>
            <a:ext cx="1700784" cy="457200"/>
          </a:xfrm>
          <a:prstGeom prst="rect">
            <a:avLst/>
          </a:prstGeom>
          <a:noFill/>
          <a:ln/>
        </p:spPr>
        <p:txBody>
          <a:bodyPr wrap="square" lIns="0" tIns="0" rIns="0" bIns="0" rtlCol="0" anchor="ctr"/>
          <a:lstStyle/>
          <a:p>
            <a:pPr indent="0" marL="0">
              <a:buNone/>
            </a:pPr>
            <a:r>
              <a:rPr lang="en-US" sz="1300" b="1" dirty="0">
                <a:solidFill>
                  <a:srgbClr val="0F4C5C"/>
                </a:solidFill>
                <a:latin typeface="Cambria" pitchFamily="34" charset="0"/>
                <a:ea typeface="Cambria" pitchFamily="34" charset="-122"/>
                <a:cs typeface="Cambria" pitchFamily="34" charset="-120"/>
              </a:rPr>
              <a:t>Autonomous approver</a:t>
            </a:r>
            <a:endParaRPr lang="en-US" sz="1300" dirty="0"/>
          </a:p>
        </p:txBody>
      </p:sp>
      <p:sp>
        <p:nvSpPr>
          <p:cNvPr id="5" name="Shape 3"/>
          <p:cNvSpPr/>
          <p:nvPr/>
        </p:nvSpPr>
        <p:spPr>
          <a:xfrm>
            <a:off x="594360" y="1874520"/>
            <a:ext cx="1005840" cy="274320"/>
          </a:xfrm>
          <a:prstGeom prst="roundRect">
            <a:avLst>
              <a:gd name="adj" fmla="val 50000"/>
            </a:avLst>
          </a:prstGeom>
          <a:solidFill>
            <a:srgbClr val="C62828"/>
          </a:solidFill>
          <a:ln w="12700">
            <a:solidFill>
              <a:srgbClr val="C62828"/>
            </a:solidFill>
            <a:prstDash val="solid"/>
          </a:ln>
        </p:spPr>
      </p:sp>
      <p:sp>
        <p:nvSpPr>
          <p:cNvPr id="6" name="Text 4"/>
          <p:cNvSpPr txBox="1"/>
          <p:nvPr/>
        </p:nvSpPr>
        <p:spPr>
          <a:xfrm>
            <a:off x="594360" y="1874520"/>
            <a:ext cx="10058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a:t>
            </a:r>
            <a:endParaRPr lang="en-US" sz="1050" dirty="0"/>
          </a:p>
        </p:txBody>
      </p:sp>
      <p:sp>
        <p:nvSpPr>
          <p:cNvPr id="7" name="Text 5"/>
          <p:cNvSpPr txBox="1"/>
          <p:nvPr/>
        </p:nvSpPr>
        <p:spPr>
          <a:xfrm>
            <a:off x="594360" y="2286000"/>
            <a:ext cx="1700784" cy="2057400"/>
          </a:xfrm>
          <a:prstGeom prst="rect">
            <a:avLst/>
          </a:prstGeom>
          <a:noFill/>
          <a:ln/>
        </p:spPr>
        <p:txBody>
          <a:bodyPr wrap="square" lIns="0" tIns="0" rIns="0" bIns="0" rtlCol="0" anchor="t"/>
          <a:lstStyle/>
          <a:p>
            <a:pPr indent="0" marL="0">
              <a:buNone/>
            </a:pPr>
            <a:r>
              <a:rPr lang="en-US" sz="1050" dirty="0">
                <a:solidFill>
                  <a:srgbClr val="1B2A2F"/>
                </a:solidFill>
                <a:latin typeface="Calibri" pitchFamily="34" charset="0"/>
                <a:ea typeface="Calibri" pitchFamily="34" charset="-122"/>
                <a:cs typeface="Calibri" pitchFamily="34" charset="-120"/>
              </a:rPr>
              <a:t>76% and 58% approve precision against a 90 to 95% bar. Merging code unattended would ship a wrong fix one time in four.</a:t>
            </a:r>
            <a:endParaRPr lang="en-US" sz="1050" dirty="0"/>
          </a:p>
        </p:txBody>
      </p:sp>
      <p:sp>
        <p:nvSpPr>
          <p:cNvPr id="8" name="Shape 6"/>
          <p:cNvSpPr/>
          <p:nvPr/>
        </p:nvSpPr>
        <p:spPr>
          <a:xfrm>
            <a:off x="2542032" y="1188720"/>
            <a:ext cx="1975104" cy="3291840"/>
          </a:xfrm>
          <a:prstGeom prst="roundRect">
            <a:avLst>
              <a:gd name="adj" fmla="val 5556"/>
            </a:avLst>
          </a:prstGeom>
          <a:solidFill>
            <a:srgbClr val="F4F7F7"/>
          </a:solidFill>
          <a:ln w="12700">
            <a:solidFill>
              <a:srgbClr val="F4F7F7"/>
            </a:solidFill>
            <a:prstDash val="solid"/>
          </a:ln>
        </p:spPr>
      </p:sp>
      <p:sp>
        <p:nvSpPr>
          <p:cNvPr id="9" name="Text 7"/>
          <p:cNvSpPr txBox="1"/>
          <p:nvPr/>
        </p:nvSpPr>
        <p:spPr>
          <a:xfrm>
            <a:off x="2679192" y="1325880"/>
            <a:ext cx="1700784" cy="457200"/>
          </a:xfrm>
          <a:prstGeom prst="rect">
            <a:avLst/>
          </a:prstGeom>
          <a:noFill/>
          <a:ln/>
        </p:spPr>
        <p:txBody>
          <a:bodyPr wrap="square" lIns="0" tIns="0" rIns="0" bIns="0" rtlCol="0" anchor="ctr"/>
          <a:lstStyle/>
          <a:p>
            <a:pPr indent="0" marL="0">
              <a:buNone/>
            </a:pPr>
            <a:r>
              <a:rPr lang="en-US" sz="1300" b="1" dirty="0">
                <a:solidFill>
                  <a:srgbClr val="0F4C5C"/>
                </a:solidFill>
                <a:latin typeface="Cambria" pitchFamily="34" charset="0"/>
                <a:ea typeface="Cambria" pitchFamily="34" charset="-122"/>
                <a:cs typeface="Cambria" pitchFamily="34" charset="-120"/>
              </a:rPr>
              <a:t>Auto-rejecter</a:t>
            </a:r>
            <a:endParaRPr lang="en-US" sz="1300" dirty="0"/>
          </a:p>
        </p:txBody>
      </p:sp>
      <p:sp>
        <p:nvSpPr>
          <p:cNvPr id="10" name="Shape 8"/>
          <p:cNvSpPr/>
          <p:nvPr/>
        </p:nvSpPr>
        <p:spPr>
          <a:xfrm>
            <a:off x="2679192" y="1874520"/>
            <a:ext cx="1005840" cy="274320"/>
          </a:xfrm>
          <a:prstGeom prst="roundRect">
            <a:avLst>
              <a:gd name="adj" fmla="val 50000"/>
            </a:avLst>
          </a:prstGeom>
          <a:solidFill>
            <a:srgbClr val="E36414"/>
          </a:solidFill>
          <a:ln w="12700">
            <a:solidFill>
              <a:srgbClr val="E36414"/>
            </a:solidFill>
            <a:prstDash val="solid"/>
          </a:ln>
        </p:spPr>
      </p:sp>
      <p:sp>
        <p:nvSpPr>
          <p:cNvPr id="11" name="Text 9"/>
          <p:cNvSpPr txBox="1"/>
          <p:nvPr/>
        </p:nvSpPr>
        <p:spPr>
          <a:xfrm>
            <a:off x="2679192" y="1874520"/>
            <a:ext cx="10058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Partly</a:t>
            </a:r>
            <a:endParaRPr lang="en-US" sz="1050" dirty="0"/>
          </a:p>
        </p:txBody>
      </p:sp>
      <p:sp>
        <p:nvSpPr>
          <p:cNvPr id="12" name="Text 10"/>
          <p:cNvSpPr txBox="1"/>
          <p:nvPr/>
        </p:nvSpPr>
        <p:spPr>
          <a:xfrm>
            <a:off x="2679192" y="2286000"/>
            <a:ext cx="1700784" cy="2057400"/>
          </a:xfrm>
          <a:prstGeom prst="rect">
            <a:avLst/>
          </a:prstGeom>
          <a:noFill/>
          <a:ln/>
        </p:spPr>
        <p:txBody>
          <a:bodyPr wrap="square" lIns="0" tIns="0" rIns="0" bIns="0" rtlCol="0" anchor="t"/>
          <a:lstStyle/>
          <a:p>
            <a:pPr indent="0" marL="0">
              <a:buNone/>
            </a:pPr>
            <a:r>
              <a:rPr lang="en-US" sz="1050" dirty="0">
                <a:solidFill>
                  <a:srgbClr val="1B2A2F"/>
                </a:solidFill>
                <a:latin typeface="Calibri" pitchFamily="34" charset="0"/>
                <a:ea typeface="Calibri" pitchFamily="34" charset="-122"/>
                <a:cs typeface="Calibri" pitchFamily="34" charset="-120"/>
              </a:rPr>
              <a:t>93% precision on Verified but only 10% of patches rejected. On the full set it rejects 89% and is wrong 30% of the time, discarding good fixes.</a:t>
            </a:r>
            <a:endParaRPr lang="en-US" sz="1050" dirty="0"/>
          </a:p>
        </p:txBody>
      </p:sp>
      <p:sp>
        <p:nvSpPr>
          <p:cNvPr id="13" name="Shape 11"/>
          <p:cNvSpPr/>
          <p:nvPr/>
        </p:nvSpPr>
        <p:spPr>
          <a:xfrm>
            <a:off x="4626864" y="1188720"/>
            <a:ext cx="1975104" cy="3291840"/>
          </a:xfrm>
          <a:prstGeom prst="roundRect">
            <a:avLst>
              <a:gd name="adj" fmla="val 5556"/>
            </a:avLst>
          </a:prstGeom>
          <a:solidFill>
            <a:srgbClr val="F4F7F7"/>
          </a:solidFill>
          <a:ln w="12700">
            <a:solidFill>
              <a:srgbClr val="F4F7F7"/>
            </a:solidFill>
            <a:prstDash val="solid"/>
          </a:ln>
        </p:spPr>
      </p:sp>
      <p:sp>
        <p:nvSpPr>
          <p:cNvPr id="14" name="Text 12"/>
          <p:cNvSpPr txBox="1"/>
          <p:nvPr/>
        </p:nvSpPr>
        <p:spPr>
          <a:xfrm>
            <a:off x="4764024" y="1325880"/>
            <a:ext cx="1700784" cy="457200"/>
          </a:xfrm>
          <a:prstGeom prst="rect">
            <a:avLst/>
          </a:prstGeom>
          <a:noFill/>
          <a:ln/>
        </p:spPr>
        <p:txBody>
          <a:bodyPr wrap="square" lIns="0" tIns="0" rIns="0" bIns="0" rtlCol="0" anchor="ctr"/>
          <a:lstStyle/>
          <a:p>
            <a:pPr indent="0" marL="0">
              <a:buNone/>
            </a:pPr>
            <a:r>
              <a:rPr lang="en-US" sz="1300" b="1" dirty="0">
                <a:solidFill>
                  <a:srgbClr val="0F4C5C"/>
                </a:solidFill>
                <a:latin typeface="Cambria" pitchFamily="34" charset="0"/>
                <a:ea typeface="Cambria" pitchFamily="34" charset="-122"/>
                <a:cs typeface="Cambria" pitchFamily="34" charset="-120"/>
              </a:rPr>
              <a:t>Review-queue prioritizer</a:t>
            </a:r>
            <a:endParaRPr lang="en-US" sz="1300" dirty="0"/>
          </a:p>
        </p:txBody>
      </p:sp>
      <p:sp>
        <p:nvSpPr>
          <p:cNvPr id="15" name="Shape 13"/>
          <p:cNvSpPr/>
          <p:nvPr/>
        </p:nvSpPr>
        <p:spPr>
          <a:xfrm>
            <a:off x="4764024" y="1874520"/>
            <a:ext cx="1005840" cy="274320"/>
          </a:xfrm>
          <a:prstGeom prst="roundRect">
            <a:avLst>
              <a:gd name="adj" fmla="val 50000"/>
            </a:avLst>
          </a:prstGeom>
          <a:solidFill>
            <a:srgbClr val="2E7D32"/>
          </a:solidFill>
          <a:ln w="12700">
            <a:solidFill>
              <a:srgbClr val="2E7D32"/>
            </a:solidFill>
            <a:prstDash val="solid"/>
          </a:ln>
        </p:spPr>
      </p:sp>
      <p:sp>
        <p:nvSpPr>
          <p:cNvPr id="16" name="Text 14"/>
          <p:cNvSpPr txBox="1"/>
          <p:nvPr/>
        </p:nvSpPr>
        <p:spPr>
          <a:xfrm>
            <a:off x="4764024" y="1874520"/>
            <a:ext cx="10058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Yes</a:t>
            </a:r>
            <a:endParaRPr lang="en-US" sz="1050" dirty="0"/>
          </a:p>
        </p:txBody>
      </p:sp>
      <p:sp>
        <p:nvSpPr>
          <p:cNvPr id="17" name="Text 15"/>
          <p:cNvSpPr txBox="1"/>
          <p:nvPr/>
        </p:nvSpPr>
        <p:spPr>
          <a:xfrm>
            <a:off x="4764024" y="2286000"/>
            <a:ext cx="1700784" cy="2057400"/>
          </a:xfrm>
          <a:prstGeom prst="rect">
            <a:avLst/>
          </a:prstGeom>
          <a:noFill/>
          <a:ln/>
        </p:spPr>
        <p:txBody>
          <a:bodyPr wrap="square" lIns="0" tIns="0" rIns="0" bIns="0" rtlCol="0" anchor="t"/>
          <a:lstStyle/>
          <a:p>
            <a:pPr indent="0" marL="0">
              <a:buNone/>
            </a:pPr>
            <a:r>
              <a:rPr lang="en-US" sz="1050" dirty="0">
                <a:solidFill>
                  <a:srgbClr val="1B2A2F"/>
                </a:solidFill>
                <a:latin typeface="Calibri" pitchFamily="34" charset="0"/>
                <a:ea typeface="Calibri" pitchFamily="34" charset="-122"/>
                <a:cs typeface="Calibri" pitchFamily="34" charset="-120"/>
              </a:rPr>
              <a:t>Ranking is what the model does well. AUC 0.69 to 0.74 with tight intervals is enough to order reviewers' work by likely outcome.</a:t>
            </a:r>
            <a:endParaRPr lang="en-US" sz="1050" dirty="0"/>
          </a:p>
        </p:txBody>
      </p:sp>
      <p:sp>
        <p:nvSpPr>
          <p:cNvPr id="18" name="Shape 16"/>
          <p:cNvSpPr/>
          <p:nvPr/>
        </p:nvSpPr>
        <p:spPr>
          <a:xfrm>
            <a:off x="6711696" y="1188720"/>
            <a:ext cx="1975104" cy="3291840"/>
          </a:xfrm>
          <a:prstGeom prst="roundRect">
            <a:avLst>
              <a:gd name="adj" fmla="val 5556"/>
            </a:avLst>
          </a:prstGeom>
          <a:solidFill>
            <a:srgbClr val="F4F7F7"/>
          </a:solidFill>
          <a:ln w="12700">
            <a:solidFill>
              <a:srgbClr val="F4F7F7"/>
            </a:solidFill>
            <a:prstDash val="solid"/>
          </a:ln>
        </p:spPr>
      </p:sp>
      <p:sp>
        <p:nvSpPr>
          <p:cNvPr id="19" name="Text 17"/>
          <p:cNvSpPr txBox="1"/>
          <p:nvPr/>
        </p:nvSpPr>
        <p:spPr>
          <a:xfrm>
            <a:off x="6848856" y="1325880"/>
            <a:ext cx="1700784" cy="457200"/>
          </a:xfrm>
          <a:prstGeom prst="rect">
            <a:avLst/>
          </a:prstGeom>
          <a:noFill/>
          <a:ln/>
        </p:spPr>
        <p:txBody>
          <a:bodyPr wrap="square" lIns="0" tIns="0" rIns="0" bIns="0" rtlCol="0" anchor="ctr"/>
          <a:lstStyle/>
          <a:p>
            <a:pPr indent="0" marL="0">
              <a:buNone/>
            </a:pPr>
            <a:r>
              <a:rPr lang="en-US" sz="1300" b="1" dirty="0">
                <a:solidFill>
                  <a:srgbClr val="0F4C5C"/>
                </a:solidFill>
                <a:latin typeface="Cambria" pitchFamily="34" charset="0"/>
                <a:ea typeface="Cambria" pitchFamily="34" charset="-122"/>
                <a:cs typeface="Cambria" pitchFamily="34" charset="-120"/>
              </a:rPr>
              <a:t>Production pull requests</a:t>
            </a:r>
            <a:endParaRPr lang="en-US" sz="1300" dirty="0"/>
          </a:p>
        </p:txBody>
      </p:sp>
      <p:sp>
        <p:nvSpPr>
          <p:cNvPr id="20" name="Shape 18"/>
          <p:cNvSpPr/>
          <p:nvPr/>
        </p:nvSpPr>
        <p:spPr>
          <a:xfrm>
            <a:off x="6848856" y="1874520"/>
            <a:ext cx="1005840" cy="274320"/>
          </a:xfrm>
          <a:prstGeom prst="roundRect">
            <a:avLst>
              <a:gd name="adj" fmla="val 50000"/>
            </a:avLst>
          </a:prstGeom>
          <a:solidFill>
            <a:srgbClr val="5C6B70"/>
          </a:solidFill>
          <a:ln w="12700">
            <a:solidFill>
              <a:srgbClr val="5C6B70"/>
            </a:solidFill>
            <a:prstDash val="solid"/>
          </a:ln>
        </p:spPr>
      </p:sp>
      <p:sp>
        <p:nvSpPr>
          <p:cNvPr id="21" name="Text 19"/>
          <p:cNvSpPr txBox="1"/>
          <p:nvPr/>
        </p:nvSpPr>
        <p:spPr>
          <a:xfrm>
            <a:off x="6848856" y="1874520"/>
            <a:ext cx="10058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Unknown</a:t>
            </a:r>
            <a:endParaRPr lang="en-US" sz="1050" dirty="0"/>
          </a:p>
        </p:txBody>
      </p:sp>
      <p:sp>
        <p:nvSpPr>
          <p:cNvPr id="22" name="Text 20"/>
          <p:cNvSpPr txBox="1"/>
          <p:nvPr/>
        </p:nvSpPr>
        <p:spPr>
          <a:xfrm>
            <a:off x="6848856" y="2286000"/>
            <a:ext cx="1700784" cy="2057400"/>
          </a:xfrm>
          <a:prstGeom prst="rect">
            <a:avLst/>
          </a:prstGeom>
          <a:noFill/>
          <a:ln/>
        </p:spPr>
        <p:txBody>
          <a:bodyPr wrap="square" lIns="0" tIns="0" rIns="0" bIns="0" rtlCol="0" anchor="t"/>
          <a:lstStyle/>
          <a:p>
            <a:pPr indent="0" marL="0">
              <a:buNone/>
            </a:pPr>
            <a:r>
              <a:rPr lang="en-US" sz="1050" dirty="0">
                <a:solidFill>
                  <a:srgbClr val="1B2A2F"/>
                </a:solidFill>
                <a:latin typeface="Calibri" pitchFamily="34" charset="0"/>
                <a:ea typeface="Calibri" pitchFamily="34" charset="-122"/>
                <a:cs typeface="Calibri" pitchFamily="34" charset="-120"/>
              </a:rPr>
              <a:t>Every number measures 'passed the benchmark tests'. Nothing has been validated on real PRs with merge and revert outcomes yet.</a:t>
            </a:r>
            <a:endParaRPr lang="en-US" sz="1050" dirty="0"/>
          </a:p>
        </p:txBody>
      </p:sp>
      <p:sp>
        <p:nvSpPr>
          <p:cNvPr id="23" name="Text 21"/>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C6B70"/>
                </a:solidFill>
                <a:latin typeface="Calibri" pitchFamily="34" charset="0"/>
                <a:ea typeface="Calibri" pitchFamily="34" charset="-122"/>
                <a:cs typeface="Calibri" pitchFamily="34" charset="-120"/>
              </a:rPr>
              <a:t>TrustGate results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What the experiments taught us</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4754880" cy="914400"/>
        </p:xfrm>
        <a:graphic>
          <a:graphicData uri="http://schemas.openxmlformats.org/drawingml/2006/table">
            <a:tbl>
              <a:tblPr/>
              <a:tblGrid>
                <a:gridCol w="2743200"/>
                <a:gridCol w="1005840"/>
                <a:gridCol w="1005840"/>
              </a:tblGrid>
              <a:tr h="32918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Feature set</a:t>
                      </a:r>
                      <a:endParaRPr lang="en-US" sz="105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F4C5C"/>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Verified AUC</a:t>
                      </a:r>
                      <a:endParaRPr lang="en-US" sz="105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F4C5C"/>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Full AUC</a:t>
                      </a:r>
                      <a:endParaRPr lang="en-US" sz="105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F4C5C"/>
                    </a:solidFill>
                  </a:tcPr>
                </a:tc>
              </a:tr>
              <a:tr h="329184">
                <a:tc>
                  <a:txBody>
                    <a:bodyPr/>
                    <a:lstStyle/>
                    <a:p>
                      <a:pPr indent="0" marL="0">
                        <a:buNone/>
                      </a:pPr>
                      <a:r>
                        <a:rPr lang="en-US" sz="1000" dirty="0">
                          <a:solidFill>
                            <a:srgbClr val="1B2A2F"/>
                          </a:solidFill>
                          <a:latin typeface="Calibri" pitchFamily="34" charset="0"/>
                          <a:ea typeface="Calibri" pitchFamily="34" charset="-122"/>
                          <a:cs typeface="Calibri" pitchFamily="34" charset="-120"/>
                        </a:rPr>
                        <a:t>Patch size and shape only</a:t>
                      </a:r>
                      <a:endParaRPr lang="en-US" sz="10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00" dirty="0">
                          <a:solidFill>
                            <a:srgbClr val="1B2A2F"/>
                          </a:solidFill>
                          <a:latin typeface="Calibri" pitchFamily="34" charset="0"/>
                          <a:ea typeface="Calibri" pitchFamily="34" charset="-122"/>
                          <a:cs typeface="Calibri" pitchFamily="34" charset="-120"/>
                        </a:rPr>
                        <a:t>0.61</a:t>
                      </a:r>
                      <a:endParaRPr lang="en-US" sz="10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00" dirty="0">
                          <a:solidFill>
                            <a:srgbClr val="1B2A2F"/>
                          </a:solidFill>
                          <a:latin typeface="Calibri" pitchFamily="34" charset="0"/>
                          <a:ea typeface="Calibri" pitchFamily="34" charset="-122"/>
                          <a:cs typeface="Calibri" pitchFamily="34" charset="-120"/>
                        </a:rPr>
                        <a:t>0.65</a:t>
                      </a:r>
                      <a:endParaRPr lang="en-US" sz="10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29184">
                <a:tc>
                  <a:txBody>
                    <a:bodyPr/>
                    <a:lstStyle/>
                    <a:p>
                      <a:pPr indent="0" marL="0">
                        <a:buNone/>
                      </a:pPr>
                      <a:r>
                        <a:rPr lang="en-US" sz="1000" dirty="0">
                          <a:solidFill>
                            <a:srgbClr val="1B2A2F"/>
                          </a:solidFill>
                          <a:latin typeface="Calibri" pitchFamily="34" charset="0"/>
                          <a:ea typeface="Calibri" pitchFamily="34" charset="-122"/>
                          <a:cs typeface="Calibri" pitchFamily="34" charset="-120"/>
                        </a:rPr>
                        <a:t>+ agreement with other candidates</a:t>
                      </a:r>
                      <a:endParaRPr lang="en-US" sz="10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00" b="1" dirty="0">
                          <a:solidFill>
                            <a:srgbClr val="1B2A2F"/>
                          </a:solidFill>
                          <a:latin typeface="Calibri" pitchFamily="34" charset="0"/>
                          <a:ea typeface="Calibri" pitchFamily="34" charset="-122"/>
                          <a:cs typeface="Calibri" pitchFamily="34" charset="-120"/>
                        </a:rPr>
                        <a:t>0.73</a:t>
                      </a:r>
                      <a:endParaRPr lang="en-US" sz="10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00" b="1" dirty="0">
                          <a:solidFill>
                            <a:srgbClr val="1B2A2F"/>
                          </a:solidFill>
                          <a:latin typeface="Calibri" pitchFamily="34" charset="0"/>
                          <a:ea typeface="Calibri" pitchFamily="34" charset="-122"/>
                          <a:cs typeface="Calibri" pitchFamily="34" charset="-120"/>
                        </a:rPr>
                        <a:t>0.69</a:t>
                      </a:r>
                      <a:endParaRPr lang="en-US" sz="10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29184">
                <a:tc>
                  <a:txBody>
                    <a:bodyPr/>
                    <a:lstStyle/>
                    <a:p>
                      <a:pPr indent="0" marL="0">
                        <a:buNone/>
                      </a:pPr>
                      <a:r>
                        <a:rPr lang="en-US" sz="1000" dirty="0">
                          <a:solidFill>
                            <a:srgbClr val="1B2A2F"/>
                          </a:solidFill>
                          <a:latin typeface="Calibri" pitchFamily="34" charset="0"/>
                          <a:ea typeface="Calibri" pitchFamily="34" charset="-122"/>
                          <a:cs typeface="Calibri" pitchFamily="34" charset="-120"/>
                        </a:rPr>
                        <a:t>+ code health (parse, compile, lint)</a:t>
                      </a:r>
                      <a:endParaRPr lang="en-US" sz="10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00" b="1" dirty="0">
                          <a:solidFill>
                            <a:srgbClr val="E36414"/>
                          </a:solidFill>
                          <a:latin typeface="Calibri" pitchFamily="34" charset="0"/>
                          <a:ea typeface="Calibri" pitchFamily="34" charset="-122"/>
                          <a:cs typeface="Calibri" pitchFamily="34" charset="-120"/>
                        </a:rPr>
                        <a:t>0.74</a:t>
                      </a:r>
                      <a:endParaRPr lang="en-US" sz="10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00" b="1" dirty="0">
                          <a:solidFill>
                            <a:srgbClr val="E36414"/>
                          </a:solidFill>
                          <a:latin typeface="Calibri" pitchFamily="34" charset="0"/>
                          <a:ea typeface="Calibri" pitchFamily="34" charset="-122"/>
                          <a:cs typeface="Calibri" pitchFamily="34" charset="-120"/>
                        </a:rPr>
                        <a:t>0.69</a:t>
                      </a:r>
                      <a:endParaRPr lang="en-US" sz="10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29184">
                <a:tc>
                  <a:txBody>
                    <a:bodyPr/>
                    <a:lstStyle/>
                    <a:p>
                      <a:pPr indent="0" marL="0">
                        <a:buNone/>
                      </a:pPr>
                      <a:r>
                        <a:rPr lang="en-US" sz="1000" dirty="0">
                          <a:solidFill>
                            <a:srgbClr val="1B2A2F"/>
                          </a:solidFill>
                          <a:latin typeface="Calibri" pitchFamily="34" charset="0"/>
                          <a:ea typeface="Calibri" pitchFamily="34" charset="-122"/>
                          <a:cs typeface="Calibri" pitchFamily="34" charset="-120"/>
                        </a:rPr>
                        <a:t>+ text similarity to the bug report</a:t>
                      </a:r>
                      <a:endParaRPr lang="en-US" sz="10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00" dirty="0">
                          <a:solidFill>
                            <a:srgbClr val="1B2A2F"/>
                          </a:solidFill>
                          <a:latin typeface="Calibri" pitchFamily="34" charset="0"/>
                          <a:ea typeface="Calibri" pitchFamily="34" charset="-122"/>
                          <a:cs typeface="Calibri" pitchFamily="34" charset="-120"/>
                        </a:rPr>
                        <a:t>0.73</a:t>
                      </a:r>
                      <a:endParaRPr lang="en-US" sz="10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000" dirty="0">
                          <a:solidFill>
                            <a:srgbClr val="1B2A2F"/>
                          </a:solidFill>
                          <a:latin typeface="Calibri" pitchFamily="34" charset="0"/>
                          <a:ea typeface="Calibri" pitchFamily="34" charset="-122"/>
                          <a:cs typeface="Calibri" pitchFamily="34" charset="-120"/>
                        </a:rPr>
                        <a:t>0.69</a:t>
                      </a:r>
                      <a:endParaRPr lang="en-US" sz="10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bl>
          </a:graphicData>
        </a:graphic>
      </p:graphicFrame>
      <p:sp>
        <p:nvSpPr>
          <p:cNvPr id="4" name="Text 1"/>
          <p:cNvSpPr txBox="1"/>
          <p:nvPr/>
        </p:nvSpPr>
        <p:spPr>
          <a:xfrm>
            <a:off x="457200" y="2834640"/>
            <a:ext cx="4754880" cy="228600"/>
          </a:xfrm>
          <a:prstGeom prst="rect">
            <a:avLst/>
          </a:prstGeom>
          <a:noFill/>
          <a:ln/>
        </p:spPr>
        <p:txBody>
          <a:bodyPr wrap="square" lIns="0" tIns="0" rIns="0" bIns="0" rtlCol="0" anchor="ctr"/>
          <a:lstStyle/>
          <a:p>
            <a:pPr indent="0" marL="0">
              <a:buNone/>
            </a:pPr>
            <a:r>
              <a:rPr lang="en-US" sz="900" i="1" dirty="0">
                <a:solidFill>
                  <a:srgbClr val="5C6B70"/>
                </a:solidFill>
                <a:latin typeface="Calibri" pitchFamily="34" charset="0"/>
                <a:ea typeface="Calibri" pitchFamily="34" charset="-122"/>
                <a:cs typeface="Calibri" pitchFamily="34" charset="-120"/>
              </a:rPr>
              <a:t>Gradient boosting, held-out test split</a:t>
            </a:r>
            <a:endParaRPr lang="en-US" sz="900" dirty="0"/>
          </a:p>
        </p:txBody>
      </p:sp>
      <p:sp>
        <p:nvSpPr>
          <p:cNvPr id="5" name="Text 2"/>
          <p:cNvSpPr txBox="1"/>
          <p:nvPr/>
        </p:nvSpPr>
        <p:spPr>
          <a:xfrm>
            <a:off x="5486400" y="1143000"/>
            <a:ext cx="3200400" cy="34747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B2A2F"/>
                </a:solidFill>
                <a:latin typeface="Calibri" pitchFamily="34" charset="0"/>
                <a:ea typeface="Calibri" pitchFamily="34" charset="-122"/>
                <a:cs typeface="Calibri" pitchFamily="34" charset="-120"/>
              </a:rPr>
              <a:t>Agreement between independent attempts is the one feature that matters. Shuffling it alone costs 0.19 AUC on Verified.</a:t>
            </a:r>
            <a:endParaRPr lang="en-US" sz="1050" dirty="0"/>
          </a:p>
          <a:p>
            <a:pPr marL="342900" indent="-342900">
              <a:spcAft>
                <a:spcPts val="500"/>
              </a:spcAft>
              <a:buSzPct val="100000"/>
              <a:buChar char="•"/>
            </a:pPr>
            <a:r>
              <a:rPr lang="en-US" sz="1050" dirty="0">
                <a:solidFill>
                  <a:srgbClr val="1B2A2F"/>
                </a:solidFill>
                <a:latin typeface="Calibri" pitchFamily="34" charset="0"/>
                <a:ea typeface="Calibri" pitchFamily="34" charset="-122"/>
                <a:cs typeface="Calibri" pitchFamily="34" charset="-120"/>
              </a:rPr>
              <a:t>Code health and text similarity add nothing measurable on either dataset.</a:t>
            </a:r>
            <a:endParaRPr lang="en-US" sz="1050" dirty="0"/>
          </a:p>
          <a:p>
            <a:pPr marL="342900" indent="-342900">
              <a:spcAft>
                <a:spcPts val="500"/>
              </a:spcAft>
              <a:buSzPct val="100000"/>
              <a:buChar char="•"/>
            </a:pPr>
            <a:r>
              <a:rPr lang="en-US" sz="1050" dirty="0">
                <a:solidFill>
                  <a:srgbClr val="1B2A2F"/>
                </a:solidFill>
                <a:latin typeface="Calibri" pitchFamily="34" charset="0"/>
                <a:ea typeface="Calibri" pitchFamily="34" charset="-122"/>
                <a:cs typeface="Calibri" pitchFamily="34" charset="-120"/>
              </a:rPr>
              <a:t>A stronger tree model with constraints and calibration, and cross-validated thresholds, scored within the noise of the simple model.</a:t>
            </a:r>
            <a:endParaRPr lang="en-US" sz="1050" dirty="0"/>
          </a:p>
          <a:p>
            <a:pPr marL="342900" indent="-342900">
              <a:spcAft>
                <a:spcPts val="500"/>
              </a:spcAft>
              <a:buSzPct val="100000"/>
              <a:buChar char="•"/>
            </a:pPr>
            <a:r>
              <a:rPr lang="en-US" sz="1050" dirty="0">
                <a:solidFill>
                  <a:srgbClr val="1B2A2F"/>
                </a:solidFill>
                <a:latin typeface="Calibri" pitchFamily="34" charset="0"/>
                <a:ea typeface="Calibri" pitchFamily="34" charset="-122"/>
                <a:cs typeface="Calibri" pitchFamily="34" charset="-120"/>
              </a:rPr>
              <a:t>Four and a half times more bugs halved the uncertainty but did not raise the score. The full set is harder and only a third of its patches work.</a:t>
            </a:r>
            <a:endParaRPr lang="en-US" sz="1050" dirty="0"/>
          </a:p>
          <a:p>
            <a:pPr marL="342900" indent="-342900">
              <a:spcAft>
                <a:spcPts val="500"/>
              </a:spcAft>
              <a:buSzPct val="100000"/>
              <a:buChar char="•"/>
            </a:pPr>
            <a:r>
              <a:rPr lang="en-US" sz="1050" dirty="0">
                <a:solidFill>
                  <a:srgbClr val="1B2A2F"/>
                </a:solidFill>
                <a:latin typeface="Calibri" pitchFamily="34" charset="0"/>
                <a:ea typeface="Calibri" pitchFamily="34" charset="-122"/>
                <a:cs typeface="Calibri" pitchFamily="34" charset="-120"/>
              </a:rPr>
              <a:t>Conclusion: the limit is the information in a patch's shape and its peers, not the learning algorithm or the sample size.</a:t>
            </a:r>
            <a:endParaRPr lang="en-US" sz="1050" dirty="0"/>
          </a:p>
        </p:txBody>
      </p:sp>
      <p:sp>
        <p:nvSpPr>
          <p:cNvPr id="6" name="Text 3"/>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C6B70"/>
                </a:solidFill>
                <a:latin typeface="Calibri" pitchFamily="34" charset="0"/>
                <a:ea typeface="Calibri" pitchFamily="34" charset="-122"/>
                <a:cs typeface="Calibri" pitchFamily="34" charset="-120"/>
              </a:rPr>
              <a:t>TrustGate results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Next steps, ranked for an ML engineering study</a:t>
            </a:r>
            <a:endParaRPr lang="en-US" sz="2600" dirty="0"/>
          </a:p>
        </p:txBody>
      </p:sp>
      <p:sp>
        <p:nvSpPr>
          <p:cNvPr id="3" name="Shape 1"/>
          <p:cNvSpPr/>
          <p:nvPr/>
        </p:nvSpPr>
        <p:spPr>
          <a:xfrm>
            <a:off x="457200" y="1124712"/>
            <a:ext cx="347472" cy="347472"/>
          </a:xfrm>
          <a:prstGeom prst="ellipse">
            <a:avLst/>
          </a:prstGeom>
          <a:solidFill>
            <a:srgbClr val="E36414"/>
          </a:solidFill>
          <a:ln w="12700">
            <a:solidFill>
              <a:srgbClr val="E36414"/>
            </a:solidFill>
            <a:prstDash val="solid"/>
          </a:ln>
        </p:spPr>
      </p:sp>
      <p:sp>
        <p:nvSpPr>
          <p:cNvPr id="4" name="Text 2"/>
          <p:cNvSpPr txBox="1"/>
          <p:nvPr/>
        </p:nvSpPr>
        <p:spPr>
          <a:xfrm>
            <a:off x="457200" y="11247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 name="Text 3"/>
          <p:cNvSpPr txBox="1"/>
          <p:nvPr/>
        </p:nvSpPr>
        <p:spPr>
          <a:xfrm>
            <a:off x="960120" y="1051560"/>
            <a:ext cx="2926080"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Smarter agreement features</a:t>
            </a:r>
            <a:endParaRPr lang="en-US" sz="1200" dirty="0"/>
          </a:p>
        </p:txBody>
      </p:sp>
      <p:sp>
        <p:nvSpPr>
          <p:cNvPr id="6" name="Text 4"/>
          <p:cNvSpPr txBox="1"/>
          <p:nvPr/>
        </p:nvSpPr>
        <p:spPr>
          <a:xfrm>
            <a:off x="960120" y="1325880"/>
            <a:ext cx="5166360" cy="457200"/>
          </a:xfrm>
          <a:prstGeom prst="rect">
            <a:avLst/>
          </a:prstGeom>
          <a:noFill/>
          <a:ln/>
        </p:spPr>
        <p:txBody>
          <a:bodyPr wrap="square" lIns="0" tIns="0" rIns="0" bIns="0" rtlCol="0" anchor="t"/>
          <a:lstStyle/>
          <a:p>
            <a:pPr indent="0" marL="0">
              <a:buNone/>
            </a:pPr>
            <a:r>
              <a:rPr lang="en-US" sz="850" dirty="0">
                <a:solidFill>
                  <a:srgbClr val="1B2A2F"/>
                </a:solidFill>
                <a:latin typeface="Calibri" pitchFamily="34" charset="0"/>
                <a:ea typeface="Calibri" pitchFamily="34" charset="-122"/>
                <a:cs typeface="Calibri" pitchFamily="34" charset="-120"/>
              </a:rPr>
              <a:t>Cluster the candidates for each bug and use cluster size; compare touched functions through the syntax tree; rank similarity within each bug instead of using raw values. Agreement is the only feature that works, so sharpen it.</a:t>
            </a:r>
            <a:endParaRPr lang="en-US" sz="850" dirty="0"/>
          </a:p>
        </p:txBody>
      </p:sp>
      <p:sp>
        <p:nvSpPr>
          <p:cNvPr id="7" name="Shape 5"/>
          <p:cNvSpPr/>
          <p:nvPr/>
        </p:nvSpPr>
        <p:spPr>
          <a:xfrm>
            <a:off x="6309360" y="1078992"/>
            <a:ext cx="2377440" cy="658368"/>
          </a:xfrm>
          <a:prstGeom prst="roundRect">
            <a:avLst>
              <a:gd name="adj" fmla="val 11111"/>
            </a:avLst>
          </a:prstGeom>
          <a:solidFill>
            <a:srgbClr val="F4F7F7"/>
          </a:solidFill>
          <a:ln w="12700">
            <a:solidFill>
              <a:srgbClr val="F4F7F7"/>
            </a:solidFill>
            <a:prstDash val="solid"/>
          </a:ln>
        </p:spPr>
      </p:sp>
      <p:sp>
        <p:nvSpPr>
          <p:cNvPr id="8" name="Text 6"/>
          <p:cNvSpPr txBox="1"/>
          <p:nvPr/>
        </p:nvSpPr>
        <p:spPr>
          <a:xfrm>
            <a:off x="6400800" y="1078992"/>
            <a:ext cx="2194560" cy="658368"/>
          </a:xfrm>
          <a:prstGeom prst="rect">
            <a:avLst/>
          </a:prstGeom>
          <a:noFill/>
          <a:ln/>
        </p:spPr>
        <p:txBody>
          <a:bodyPr wrap="square" lIns="0" tIns="0" rIns="0" bIns="0" rtlCol="0" anchor="ctr"/>
          <a:lstStyle/>
          <a:p>
            <a:pPr indent="0" marL="0">
              <a:buNone/>
            </a:pPr>
            <a:r>
              <a:rPr lang="en-US" sz="850" b="1" dirty="0">
                <a:solidFill>
                  <a:srgbClr val="0F4C5C"/>
                </a:solidFill>
                <a:latin typeface="Calibri" pitchFamily="34" charset="0"/>
                <a:ea typeface="Calibri" pitchFamily="34" charset="-122"/>
                <a:cs typeface="Calibri" pitchFamily="34" charset="-120"/>
              </a:rPr>
              <a:t>Effort  </a:t>
            </a:r>
            <a:pPr indent="0" marL="0">
              <a:buNone/>
            </a:pPr>
            <a:r>
              <a:rPr lang="en-US" sz="850" dirty="0">
                <a:solidFill>
                  <a:srgbClr val="1B2A2F"/>
                </a:solidFill>
                <a:latin typeface="Calibri" pitchFamily="34" charset="0"/>
                <a:ea typeface="Calibri" pitchFamily="34" charset="-122"/>
                <a:cs typeface="Calibri" pitchFamily="34" charset="-120"/>
              </a:rPr>
              <a:t>Low to medium. Pure feature engineering, fully explainable.</a:t>
            </a:r>
            <a:endParaRPr lang="en-US" sz="850" dirty="0"/>
          </a:p>
        </p:txBody>
      </p:sp>
      <p:sp>
        <p:nvSpPr>
          <p:cNvPr id="9" name="Shape 7"/>
          <p:cNvSpPr/>
          <p:nvPr/>
        </p:nvSpPr>
        <p:spPr>
          <a:xfrm>
            <a:off x="457200" y="1856232"/>
            <a:ext cx="347472" cy="347472"/>
          </a:xfrm>
          <a:prstGeom prst="ellipse">
            <a:avLst/>
          </a:prstGeom>
          <a:solidFill>
            <a:srgbClr val="E36414"/>
          </a:solidFill>
          <a:ln w="12700">
            <a:solidFill>
              <a:srgbClr val="E36414"/>
            </a:solidFill>
            <a:prstDash val="solid"/>
          </a:ln>
        </p:spPr>
      </p:sp>
      <p:sp>
        <p:nvSpPr>
          <p:cNvPr id="10" name="Text 8"/>
          <p:cNvSpPr txBox="1"/>
          <p:nvPr/>
        </p:nvSpPr>
        <p:spPr>
          <a:xfrm>
            <a:off x="457200" y="18562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960120" y="1783080"/>
            <a:ext cx="2926080"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A learned code representation</a:t>
            </a:r>
            <a:endParaRPr lang="en-US" sz="1200" dirty="0"/>
          </a:p>
        </p:txBody>
      </p:sp>
      <p:sp>
        <p:nvSpPr>
          <p:cNvPr id="12" name="Text 10"/>
          <p:cNvSpPr txBox="1"/>
          <p:nvPr/>
        </p:nvSpPr>
        <p:spPr>
          <a:xfrm>
            <a:off x="960120" y="2057400"/>
            <a:ext cx="5166360" cy="457200"/>
          </a:xfrm>
          <a:prstGeom prst="rect">
            <a:avLst/>
          </a:prstGeom>
          <a:noFill/>
          <a:ln/>
        </p:spPr>
        <p:txBody>
          <a:bodyPr wrap="square" lIns="0" tIns="0" rIns="0" bIns="0" rtlCol="0" anchor="t"/>
          <a:lstStyle/>
          <a:p>
            <a:pPr indent="0" marL="0">
              <a:buNone/>
            </a:pPr>
            <a:r>
              <a:rPr lang="en-US" sz="850" dirty="0">
                <a:solidFill>
                  <a:srgbClr val="1B2A2F"/>
                </a:solidFill>
                <a:latin typeface="Calibri" pitchFamily="34" charset="0"/>
                <a:ea typeface="Calibri" pitchFamily="34" charset="-122"/>
                <a:cs typeface="Calibri" pitchFamily="34" charset="-120"/>
              </a:rPr>
              <a:t>Fine-tune a small open code model (CodeBERT, CodeT5) on issue-plus-patch pairs, or use its embeddings in place of TF-IDF. Runs locally, reproducible by a grader.</a:t>
            </a:r>
            <a:endParaRPr lang="en-US" sz="850" dirty="0"/>
          </a:p>
        </p:txBody>
      </p:sp>
      <p:sp>
        <p:nvSpPr>
          <p:cNvPr id="13" name="Shape 11"/>
          <p:cNvSpPr/>
          <p:nvPr/>
        </p:nvSpPr>
        <p:spPr>
          <a:xfrm>
            <a:off x="6309360" y="1810512"/>
            <a:ext cx="2377440" cy="658368"/>
          </a:xfrm>
          <a:prstGeom prst="roundRect">
            <a:avLst>
              <a:gd name="adj" fmla="val 11111"/>
            </a:avLst>
          </a:prstGeom>
          <a:solidFill>
            <a:srgbClr val="F4F7F7"/>
          </a:solidFill>
          <a:ln w="12700">
            <a:solidFill>
              <a:srgbClr val="F4F7F7"/>
            </a:solidFill>
            <a:prstDash val="solid"/>
          </a:ln>
        </p:spPr>
      </p:sp>
      <p:sp>
        <p:nvSpPr>
          <p:cNvPr id="14" name="Text 12"/>
          <p:cNvSpPr txBox="1"/>
          <p:nvPr/>
        </p:nvSpPr>
        <p:spPr>
          <a:xfrm>
            <a:off x="6400800" y="1810512"/>
            <a:ext cx="2194560" cy="658368"/>
          </a:xfrm>
          <a:prstGeom prst="rect">
            <a:avLst/>
          </a:prstGeom>
          <a:noFill/>
          <a:ln/>
        </p:spPr>
        <p:txBody>
          <a:bodyPr wrap="square" lIns="0" tIns="0" rIns="0" bIns="0" rtlCol="0" anchor="ctr"/>
          <a:lstStyle/>
          <a:p>
            <a:pPr indent="0" marL="0">
              <a:buNone/>
            </a:pPr>
            <a:r>
              <a:rPr lang="en-US" sz="850" b="1" dirty="0">
                <a:solidFill>
                  <a:srgbClr val="0F4C5C"/>
                </a:solidFill>
                <a:latin typeface="Calibri" pitchFamily="34" charset="0"/>
                <a:ea typeface="Calibri" pitchFamily="34" charset="-122"/>
                <a:cs typeface="Calibri" pitchFamily="34" charset="-120"/>
              </a:rPr>
              <a:t>Effort  </a:t>
            </a:r>
            <a:pPr indent="0" marL="0">
              <a:buNone/>
            </a:pPr>
            <a:r>
              <a:rPr lang="en-US" sz="850" dirty="0">
                <a:solidFill>
                  <a:srgbClr val="1B2A2F"/>
                </a:solidFill>
                <a:latin typeface="Calibri" pitchFamily="34" charset="0"/>
                <a:ea typeface="Calibri" pitchFamily="34" charset="-122"/>
                <a:cs typeface="Calibri" pitchFamily="34" charset="-120"/>
              </a:rPr>
              <a:t>Medium. A real deep-learning experiment with 27k examples.</a:t>
            </a:r>
            <a:endParaRPr lang="en-US" sz="850" dirty="0"/>
          </a:p>
        </p:txBody>
      </p:sp>
      <p:sp>
        <p:nvSpPr>
          <p:cNvPr id="15" name="Shape 13"/>
          <p:cNvSpPr/>
          <p:nvPr/>
        </p:nvSpPr>
        <p:spPr>
          <a:xfrm>
            <a:off x="457200" y="2587752"/>
            <a:ext cx="347472" cy="347472"/>
          </a:xfrm>
          <a:prstGeom prst="ellipse">
            <a:avLst/>
          </a:prstGeom>
          <a:solidFill>
            <a:srgbClr val="E36414"/>
          </a:solidFill>
          <a:ln w="12700">
            <a:solidFill>
              <a:srgbClr val="E36414"/>
            </a:solidFill>
            <a:prstDash val="solid"/>
          </a:ln>
        </p:spPr>
      </p:sp>
      <p:sp>
        <p:nvSpPr>
          <p:cNvPr id="16" name="Text 14"/>
          <p:cNvSpPr txBox="1"/>
          <p:nvPr/>
        </p:nvSpPr>
        <p:spPr>
          <a:xfrm>
            <a:off x="457200" y="25877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960120" y="2514600"/>
            <a:ext cx="2926080"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Error analysis</a:t>
            </a:r>
            <a:endParaRPr lang="en-US" sz="1200" dirty="0"/>
          </a:p>
        </p:txBody>
      </p:sp>
      <p:sp>
        <p:nvSpPr>
          <p:cNvPr id="18" name="Text 16"/>
          <p:cNvSpPr txBox="1"/>
          <p:nvPr/>
        </p:nvSpPr>
        <p:spPr>
          <a:xfrm>
            <a:off x="960120" y="2788920"/>
            <a:ext cx="5166360" cy="457200"/>
          </a:xfrm>
          <a:prstGeom prst="rect">
            <a:avLst/>
          </a:prstGeom>
          <a:noFill/>
          <a:ln/>
        </p:spPr>
        <p:txBody>
          <a:bodyPr wrap="square" lIns="0" tIns="0" rIns="0" bIns="0" rtlCol="0" anchor="t"/>
          <a:lstStyle/>
          <a:p>
            <a:pPr indent="0" marL="0">
              <a:buNone/>
            </a:pPr>
            <a:r>
              <a:rPr lang="en-US" sz="850" dirty="0">
                <a:solidFill>
                  <a:srgbClr val="1B2A2F"/>
                </a:solidFill>
                <a:latin typeface="Calibri" pitchFamily="34" charset="0"/>
                <a:ea typeface="Calibri" pitchFamily="34" charset="-122"/>
                <a:cs typeface="Calibri" pitchFamily="34" charset="-120"/>
              </a:rPr>
              <a:t>Which repositories, difficulty levels and patch sizes does the model get wrong, and why. Read the false approvals. Cheap, and it decides what to build next.</a:t>
            </a:r>
            <a:endParaRPr lang="en-US" sz="850" dirty="0"/>
          </a:p>
        </p:txBody>
      </p:sp>
      <p:sp>
        <p:nvSpPr>
          <p:cNvPr id="19" name="Shape 17"/>
          <p:cNvSpPr/>
          <p:nvPr/>
        </p:nvSpPr>
        <p:spPr>
          <a:xfrm>
            <a:off x="6309360" y="2542032"/>
            <a:ext cx="2377440" cy="658368"/>
          </a:xfrm>
          <a:prstGeom prst="roundRect">
            <a:avLst>
              <a:gd name="adj" fmla="val 11111"/>
            </a:avLst>
          </a:prstGeom>
          <a:solidFill>
            <a:srgbClr val="F4F7F7"/>
          </a:solidFill>
          <a:ln w="12700">
            <a:solidFill>
              <a:srgbClr val="F4F7F7"/>
            </a:solidFill>
            <a:prstDash val="solid"/>
          </a:ln>
        </p:spPr>
      </p:sp>
      <p:sp>
        <p:nvSpPr>
          <p:cNvPr id="20" name="Text 18"/>
          <p:cNvSpPr txBox="1"/>
          <p:nvPr/>
        </p:nvSpPr>
        <p:spPr>
          <a:xfrm>
            <a:off x="6400800" y="2542032"/>
            <a:ext cx="2194560" cy="658368"/>
          </a:xfrm>
          <a:prstGeom prst="rect">
            <a:avLst/>
          </a:prstGeom>
          <a:noFill/>
          <a:ln/>
        </p:spPr>
        <p:txBody>
          <a:bodyPr wrap="square" lIns="0" tIns="0" rIns="0" bIns="0" rtlCol="0" anchor="ctr"/>
          <a:lstStyle/>
          <a:p>
            <a:pPr indent="0" marL="0">
              <a:buNone/>
            </a:pPr>
            <a:r>
              <a:rPr lang="en-US" sz="850" b="1" dirty="0">
                <a:solidFill>
                  <a:srgbClr val="0F4C5C"/>
                </a:solidFill>
                <a:latin typeface="Calibri" pitchFamily="34" charset="0"/>
                <a:ea typeface="Calibri" pitchFamily="34" charset="-122"/>
                <a:cs typeface="Calibri" pitchFamily="34" charset="-120"/>
              </a:rPr>
              <a:t>Effort  </a:t>
            </a:r>
            <a:pPr indent="0" marL="0">
              <a:buNone/>
            </a:pPr>
            <a:r>
              <a:rPr lang="en-US" sz="850" dirty="0">
                <a:solidFill>
                  <a:srgbClr val="1B2A2F"/>
                </a:solidFill>
                <a:latin typeface="Calibri" pitchFamily="34" charset="0"/>
                <a:ea typeface="Calibri" pitchFamily="34" charset="-122"/>
                <a:cs typeface="Calibri" pitchFamily="34" charset="-120"/>
              </a:rPr>
              <a:t>Low. Notebook and data already in place.</a:t>
            </a:r>
            <a:endParaRPr lang="en-US" sz="850" dirty="0"/>
          </a:p>
        </p:txBody>
      </p:sp>
      <p:sp>
        <p:nvSpPr>
          <p:cNvPr id="21" name="Shape 19"/>
          <p:cNvSpPr/>
          <p:nvPr/>
        </p:nvSpPr>
        <p:spPr>
          <a:xfrm>
            <a:off x="457200" y="3319272"/>
            <a:ext cx="347472" cy="347472"/>
          </a:xfrm>
          <a:prstGeom prst="ellipse">
            <a:avLst/>
          </a:prstGeom>
          <a:solidFill>
            <a:srgbClr val="E36414"/>
          </a:solidFill>
          <a:ln w="12700">
            <a:solidFill>
              <a:srgbClr val="E36414"/>
            </a:solidFill>
            <a:prstDash val="solid"/>
          </a:ln>
        </p:spPr>
      </p:sp>
      <p:sp>
        <p:nvSpPr>
          <p:cNvPr id="22" name="Text 20"/>
          <p:cNvSpPr txBox="1"/>
          <p:nvPr/>
        </p:nvSpPr>
        <p:spPr>
          <a:xfrm>
            <a:off x="457200" y="33192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960120" y="3246120"/>
            <a:ext cx="2926080"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Production pull-request labels</a:t>
            </a:r>
            <a:endParaRPr lang="en-US" sz="1200" dirty="0"/>
          </a:p>
        </p:txBody>
      </p:sp>
      <p:sp>
        <p:nvSpPr>
          <p:cNvPr id="24" name="Text 22"/>
          <p:cNvSpPr txBox="1"/>
          <p:nvPr/>
        </p:nvSpPr>
        <p:spPr>
          <a:xfrm>
            <a:off x="960120" y="3520440"/>
            <a:ext cx="5166360" cy="457200"/>
          </a:xfrm>
          <a:prstGeom prst="rect">
            <a:avLst/>
          </a:prstGeom>
          <a:noFill/>
          <a:ln/>
        </p:spPr>
        <p:txBody>
          <a:bodyPr wrap="square" lIns="0" tIns="0" rIns="0" bIns="0" rtlCol="0" anchor="t"/>
          <a:lstStyle/>
          <a:p>
            <a:pPr indent="0" marL="0">
              <a:buNone/>
            </a:pPr>
            <a:r>
              <a:rPr lang="en-US" sz="850" dirty="0">
                <a:solidFill>
                  <a:srgbClr val="1B2A2F"/>
                </a:solidFill>
                <a:latin typeface="Calibri" pitchFamily="34" charset="0"/>
                <a:ea typeface="Calibri" pitchFamily="34" charset="-122"/>
                <a:cs typeface="Calibri" pitchFamily="34" charset="-120"/>
              </a:rPr>
              <a:t>The GitHub importer exists. Merged-and-not-reverted as the label and CI results as features turn 'passes the benchmark' into 'would we ship it'. The path beyond the course.</a:t>
            </a:r>
            <a:endParaRPr lang="en-US" sz="850" dirty="0"/>
          </a:p>
        </p:txBody>
      </p:sp>
      <p:sp>
        <p:nvSpPr>
          <p:cNvPr id="25" name="Shape 23"/>
          <p:cNvSpPr/>
          <p:nvPr/>
        </p:nvSpPr>
        <p:spPr>
          <a:xfrm>
            <a:off x="6309360" y="3273552"/>
            <a:ext cx="2377440" cy="658368"/>
          </a:xfrm>
          <a:prstGeom prst="roundRect">
            <a:avLst>
              <a:gd name="adj" fmla="val 11111"/>
            </a:avLst>
          </a:prstGeom>
          <a:solidFill>
            <a:srgbClr val="F4F7F7"/>
          </a:solidFill>
          <a:ln w="12700">
            <a:solidFill>
              <a:srgbClr val="F4F7F7"/>
            </a:solidFill>
            <a:prstDash val="solid"/>
          </a:ln>
        </p:spPr>
      </p:sp>
      <p:sp>
        <p:nvSpPr>
          <p:cNvPr id="26" name="Text 24"/>
          <p:cNvSpPr txBox="1"/>
          <p:nvPr/>
        </p:nvSpPr>
        <p:spPr>
          <a:xfrm>
            <a:off x="6400800" y="3273552"/>
            <a:ext cx="2194560" cy="658368"/>
          </a:xfrm>
          <a:prstGeom prst="rect">
            <a:avLst/>
          </a:prstGeom>
          <a:noFill/>
          <a:ln/>
        </p:spPr>
        <p:txBody>
          <a:bodyPr wrap="square" lIns="0" tIns="0" rIns="0" bIns="0" rtlCol="0" anchor="ctr"/>
          <a:lstStyle/>
          <a:p>
            <a:pPr indent="0" marL="0">
              <a:buNone/>
            </a:pPr>
            <a:r>
              <a:rPr lang="en-US" sz="850" b="1" dirty="0">
                <a:solidFill>
                  <a:srgbClr val="0F4C5C"/>
                </a:solidFill>
                <a:latin typeface="Calibri" pitchFamily="34" charset="0"/>
                <a:ea typeface="Calibri" pitchFamily="34" charset="-122"/>
                <a:cs typeface="Calibri" pitchFamily="34" charset="-120"/>
              </a:rPr>
              <a:t>Effort  </a:t>
            </a:r>
            <a:pPr indent="0" marL="0">
              <a:buNone/>
            </a:pPr>
            <a:r>
              <a:rPr lang="en-US" sz="850" dirty="0">
                <a:solidFill>
                  <a:srgbClr val="1B2A2F"/>
                </a:solidFill>
                <a:latin typeface="Calibri" pitchFamily="34" charset="0"/>
                <a:ea typeface="Calibri" pitchFamily="34" charset="-122"/>
                <a:cs typeface="Calibri" pitchFamily="34" charset="-120"/>
              </a:rPr>
              <a:t>Medium. Needs repository access and PR history.</a:t>
            </a:r>
            <a:endParaRPr lang="en-US" sz="850" dirty="0"/>
          </a:p>
        </p:txBody>
      </p:sp>
      <p:sp>
        <p:nvSpPr>
          <p:cNvPr id="27" name="Shape 25"/>
          <p:cNvSpPr/>
          <p:nvPr/>
        </p:nvSpPr>
        <p:spPr>
          <a:xfrm>
            <a:off x="457200" y="4050792"/>
            <a:ext cx="347472" cy="347472"/>
          </a:xfrm>
          <a:prstGeom prst="ellipse">
            <a:avLst/>
          </a:prstGeom>
          <a:solidFill>
            <a:srgbClr val="5C6B70"/>
          </a:solidFill>
          <a:ln w="12700">
            <a:solidFill>
              <a:srgbClr val="5C6B70"/>
            </a:solidFill>
            <a:prstDash val="solid"/>
          </a:ln>
        </p:spPr>
      </p:sp>
      <p:sp>
        <p:nvSpPr>
          <p:cNvPr id="28" name="Text 26"/>
          <p:cNvSpPr txBox="1"/>
          <p:nvPr/>
        </p:nvSpPr>
        <p:spPr>
          <a:xfrm>
            <a:off x="457200" y="405079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9" name="Text 27"/>
          <p:cNvSpPr txBox="1"/>
          <p:nvPr/>
        </p:nvSpPr>
        <p:spPr>
          <a:xfrm>
            <a:off x="960120" y="3977640"/>
            <a:ext cx="2926080"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LLM judge, as a ceiling only</a:t>
            </a:r>
            <a:endParaRPr lang="en-US" sz="1200" dirty="0"/>
          </a:p>
        </p:txBody>
      </p:sp>
      <p:sp>
        <p:nvSpPr>
          <p:cNvPr id="30" name="Text 28"/>
          <p:cNvSpPr txBox="1"/>
          <p:nvPr/>
        </p:nvSpPr>
        <p:spPr>
          <a:xfrm>
            <a:off x="960120" y="4251960"/>
            <a:ext cx="5166360" cy="457200"/>
          </a:xfrm>
          <a:prstGeom prst="rect">
            <a:avLst/>
          </a:prstGeom>
          <a:noFill/>
          <a:ln/>
        </p:spPr>
        <p:txBody>
          <a:bodyPr wrap="square" lIns="0" tIns="0" rIns="0" bIns="0" rtlCol="0" anchor="t"/>
          <a:lstStyle/>
          <a:p>
            <a:pPr indent="0" marL="0">
              <a:buNone/>
            </a:pPr>
            <a:r>
              <a:rPr lang="en-US" sz="850" dirty="0">
                <a:solidFill>
                  <a:srgbClr val="1B2A2F"/>
                </a:solidFill>
                <a:latin typeface="Calibri" pitchFamily="34" charset="0"/>
                <a:ea typeface="Calibri" pitchFamily="34" charset="-122"/>
                <a:cs typeface="Calibri" pitchFamily="34" charset="-120"/>
              </a:rPr>
              <a:t>Ask a foundation model to rate each patch and measure how much of the remaining gap it closes and at what cost. Run last: it is expensive, and the judge may recognise patches its own model family wrote or repositories it trained on.</a:t>
            </a:r>
            <a:endParaRPr lang="en-US" sz="850" dirty="0"/>
          </a:p>
        </p:txBody>
      </p:sp>
      <p:sp>
        <p:nvSpPr>
          <p:cNvPr id="31" name="Shape 29"/>
          <p:cNvSpPr/>
          <p:nvPr/>
        </p:nvSpPr>
        <p:spPr>
          <a:xfrm>
            <a:off x="6309360" y="4005072"/>
            <a:ext cx="2377440" cy="658368"/>
          </a:xfrm>
          <a:prstGeom prst="roundRect">
            <a:avLst>
              <a:gd name="adj" fmla="val 11111"/>
            </a:avLst>
          </a:prstGeom>
          <a:solidFill>
            <a:srgbClr val="FBEDE4"/>
          </a:solidFill>
          <a:ln w="12700">
            <a:solidFill>
              <a:srgbClr val="FBEDE4"/>
            </a:solidFill>
            <a:prstDash val="solid"/>
          </a:ln>
        </p:spPr>
      </p:sp>
      <p:sp>
        <p:nvSpPr>
          <p:cNvPr id="32" name="Text 30"/>
          <p:cNvSpPr txBox="1"/>
          <p:nvPr/>
        </p:nvSpPr>
        <p:spPr>
          <a:xfrm>
            <a:off x="6400800" y="4005072"/>
            <a:ext cx="2194560" cy="658368"/>
          </a:xfrm>
          <a:prstGeom prst="rect">
            <a:avLst/>
          </a:prstGeom>
          <a:noFill/>
          <a:ln/>
        </p:spPr>
        <p:txBody>
          <a:bodyPr wrap="square" lIns="0" tIns="0" rIns="0" bIns="0" rtlCol="0" anchor="ctr"/>
          <a:lstStyle/>
          <a:p>
            <a:pPr indent="0" marL="0">
              <a:buNone/>
            </a:pPr>
            <a:r>
              <a:rPr lang="en-US" sz="850" b="1" dirty="0">
                <a:solidFill>
                  <a:srgbClr val="0F4C5C"/>
                </a:solidFill>
                <a:latin typeface="Calibri" pitchFamily="34" charset="0"/>
                <a:ea typeface="Calibri" pitchFamily="34" charset="-122"/>
                <a:cs typeface="Calibri" pitchFamily="34" charset="-120"/>
              </a:rPr>
              <a:t>Effort  </a:t>
            </a:r>
            <a:pPr indent="0" marL="0">
              <a:buNone/>
            </a:pPr>
            <a:r>
              <a:rPr lang="en-US" sz="850" dirty="0">
                <a:solidFill>
                  <a:srgbClr val="1B2A2F"/>
                </a:solidFill>
                <a:latin typeface="Calibri" pitchFamily="34" charset="0"/>
                <a:ea typeface="Calibri" pitchFamily="34" charset="-122"/>
                <a:cs typeface="Calibri" pitchFamily="34" charset="-120"/>
              </a:rPr>
              <a:t>Medium, plus API cost. Frame as an ablation, not the method.</a:t>
            </a:r>
            <a:endParaRPr lang="en-US" sz="850" dirty="0"/>
          </a:p>
        </p:txBody>
      </p:sp>
      <p:sp>
        <p:nvSpPr>
          <p:cNvPr id="33" name="Text 31"/>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C6B70"/>
                </a:solidFill>
                <a:latin typeface="Calibri" pitchFamily="34" charset="0"/>
                <a:ea typeface="Calibri" pitchFamily="34" charset="-122"/>
                <a:cs typeface="Calibri" pitchFamily="34" charset="-120"/>
              </a:rPr>
              <a:t>TrustGate results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Proposed plan and what 'good enough' means</a:t>
            </a:r>
            <a:endParaRPr lang="en-US" sz="2600" dirty="0"/>
          </a:p>
        </p:txBody>
      </p:sp>
      <p:sp>
        <p:nvSpPr>
          <p:cNvPr id="3" name="Shape 1"/>
          <p:cNvSpPr/>
          <p:nvPr/>
        </p:nvSpPr>
        <p:spPr>
          <a:xfrm>
            <a:off x="457200" y="1143000"/>
            <a:ext cx="2651760" cy="2148840"/>
          </a:xfrm>
          <a:prstGeom prst="roundRect">
            <a:avLst>
              <a:gd name="adj" fmla="val 5106"/>
            </a:avLst>
          </a:prstGeom>
          <a:solidFill>
            <a:srgbClr val="F4F7F7"/>
          </a:solidFill>
          <a:ln w="12700">
            <a:solidFill>
              <a:srgbClr val="F4F7F7"/>
            </a:solidFill>
            <a:prstDash val="solid"/>
          </a:ln>
        </p:spPr>
      </p:sp>
      <p:sp>
        <p:nvSpPr>
          <p:cNvPr id="4" name="Text 2"/>
          <p:cNvSpPr txBox="1"/>
          <p:nvPr/>
        </p:nvSpPr>
        <p:spPr>
          <a:xfrm>
            <a:off x="640080" y="1234440"/>
            <a:ext cx="2286000" cy="274320"/>
          </a:xfrm>
          <a:prstGeom prst="rect">
            <a:avLst/>
          </a:prstGeom>
          <a:noFill/>
          <a:ln/>
        </p:spPr>
        <p:txBody>
          <a:bodyPr wrap="square" lIns="0" tIns="0" rIns="0" bIns="0" rtlCol="0" anchor="ctr"/>
          <a:lstStyle/>
          <a:p>
            <a:pPr indent="0" marL="0">
              <a:buNone/>
            </a:pPr>
            <a:r>
              <a:rPr lang="en-US" sz="1000" b="1" dirty="0">
                <a:solidFill>
                  <a:srgbClr val="E36414"/>
                </a:solidFill>
                <a:latin typeface="Calibri" pitchFamily="34" charset="0"/>
                <a:ea typeface="Calibri" pitchFamily="34" charset="-122"/>
                <a:cs typeface="Calibri" pitchFamily="34" charset="-120"/>
              </a:rPr>
              <a:t>Phase 1</a:t>
            </a:r>
            <a:endParaRPr lang="en-US" sz="1000" dirty="0"/>
          </a:p>
        </p:txBody>
      </p:sp>
      <p:sp>
        <p:nvSpPr>
          <p:cNvPr id="5" name="Text 3"/>
          <p:cNvSpPr txBox="1"/>
          <p:nvPr/>
        </p:nvSpPr>
        <p:spPr>
          <a:xfrm>
            <a:off x="640080" y="1481328"/>
            <a:ext cx="2286000" cy="365760"/>
          </a:xfrm>
          <a:prstGeom prst="rect">
            <a:avLst/>
          </a:prstGeom>
          <a:noFill/>
          <a:ln/>
        </p:spPr>
        <p:txBody>
          <a:bodyPr wrap="square" lIns="0" tIns="0" rIns="0" bIns="0" rtlCol="0" anchor="ctr"/>
          <a:lstStyle/>
          <a:p>
            <a:pPr indent="0" marL="0">
              <a:buNone/>
            </a:pPr>
            <a:r>
              <a:rPr lang="en-US" sz="1400" b="1" dirty="0">
                <a:solidFill>
                  <a:srgbClr val="0F4C5C"/>
                </a:solidFill>
                <a:latin typeface="Cambria" pitchFamily="34" charset="0"/>
                <a:ea typeface="Cambria" pitchFamily="34" charset="-122"/>
                <a:cs typeface="Cambria" pitchFamily="34" charset="-120"/>
              </a:rPr>
              <a:t>Sharpen the signal</a:t>
            </a:r>
            <a:endParaRPr lang="en-US" sz="1400" dirty="0"/>
          </a:p>
        </p:txBody>
      </p:sp>
      <p:sp>
        <p:nvSpPr>
          <p:cNvPr id="6" name="Text 4"/>
          <p:cNvSpPr txBox="1"/>
          <p:nvPr/>
        </p:nvSpPr>
        <p:spPr>
          <a:xfrm>
            <a:off x="640080" y="1874520"/>
            <a:ext cx="2286000" cy="1325880"/>
          </a:xfrm>
          <a:prstGeom prst="rect">
            <a:avLst/>
          </a:prstGeom>
          <a:noFill/>
          <a:ln/>
        </p:spPr>
        <p:txBody>
          <a:bodyPr wrap="square" lIns="0" tIns="0" rIns="0" bIns="0" rtlCol="0" anchor="t"/>
          <a:lstStyle/>
          <a:p>
            <a:pPr indent="0" marL="0">
              <a:buNone/>
            </a:pPr>
            <a:r>
              <a:rPr lang="en-US" sz="1000" dirty="0">
                <a:solidFill>
                  <a:srgbClr val="1B2A2F"/>
                </a:solidFill>
                <a:latin typeface="Calibri" pitchFamily="34" charset="0"/>
                <a:ea typeface="Calibri" pitchFamily="34" charset="-122"/>
                <a:cs typeface="Calibri" pitchFamily="34" charset="-120"/>
              </a:rPr>
              <a:t>Smarter agreement features and a full error analysis on both splits. Report the AUC gain with bootstrap intervals and approve precision at 20% coverage.</a:t>
            </a:r>
            <a:endParaRPr lang="en-US" sz="1000" dirty="0"/>
          </a:p>
        </p:txBody>
      </p:sp>
      <p:sp>
        <p:nvSpPr>
          <p:cNvPr id="7" name="Shape 5"/>
          <p:cNvSpPr/>
          <p:nvPr/>
        </p:nvSpPr>
        <p:spPr>
          <a:xfrm>
            <a:off x="3246120" y="1143000"/>
            <a:ext cx="2651760" cy="2148840"/>
          </a:xfrm>
          <a:prstGeom prst="roundRect">
            <a:avLst>
              <a:gd name="adj" fmla="val 5106"/>
            </a:avLst>
          </a:prstGeom>
          <a:solidFill>
            <a:srgbClr val="F4F7F7"/>
          </a:solidFill>
          <a:ln w="12700">
            <a:solidFill>
              <a:srgbClr val="F4F7F7"/>
            </a:solidFill>
            <a:prstDash val="solid"/>
          </a:ln>
        </p:spPr>
      </p:sp>
      <p:sp>
        <p:nvSpPr>
          <p:cNvPr id="8" name="Text 6"/>
          <p:cNvSpPr txBox="1"/>
          <p:nvPr/>
        </p:nvSpPr>
        <p:spPr>
          <a:xfrm>
            <a:off x="3429000" y="1234440"/>
            <a:ext cx="2286000" cy="274320"/>
          </a:xfrm>
          <a:prstGeom prst="rect">
            <a:avLst/>
          </a:prstGeom>
          <a:noFill/>
          <a:ln/>
        </p:spPr>
        <p:txBody>
          <a:bodyPr wrap="square" lIns="0" tIns="0" rIns="0" bIns="0" rtlCol="0" anchor="ctr"/>
          <a:lstStyle/>
          <a:p>
            <a:pPr indent="0" marL="0">
              <a:buNone/>
            </a:pPr>
            <a:r>
              <a:rPr lang="en-US" sz="1000" b="1" dirty="0">
                <a:solidFill>
                  <a:srgbClr val="E36414"/>
                </a:solidFill>
                <a:latin typeface="Calibri" pitchFamily="34" charset="0"/>
                <a:ea typeface="Calibri" pitchFamily="34" charset="-122"/>
                <a:cs typeface="Calibri" pitchFamily="34" charset="-120"/>
              </a:rPr>
              <a:t>Phase 2</a:t>
            </a:r>
            <a:endParaRPr lang="en-US" sz="1000" dirty="0"/>
          </a:p>
        </p:txBody>
      </p:sp>
      <p:sp>
        <p:nvSpPr>
          <p:cNvPr id="9" name="Text 7"/>
          <p:cNvSpPr txBox="1"/>
          <p:nvPr/>
        </p:nvSpPr>
        <p:spPr>
          <a:xfrm>
            <a:off x="3429000" y="1481328"/>
            <a:ext cx="2286000" cy="365760"/>
          </a:xfrm>
          <a:prstGeom prst="rect">
            <a:avLst/>
          </a:prstGeom>
          <a:noFill/>
          <a:ln/>
        </p:spPr>
        <p:txBody>
          <a:bodyPr wrap="square" lIns="0" tIns="0" rIns="0" bIns="0" rtlCol="0" anchor="ctr"/>
          <a:lstStyle/>
          <a:p>
            <a:pPr indent="0" marL="0">
              <a:buNone/>
            </a:pPr>
            <a:r>
              <a:rPr lang="en-US" sz="1400" b="1" dirty="0">
                <a:solidFill>
                  <a:srgbClr val="0F4C5C"/>
                </a:solidFill>
                <a:latin typeface="Cambria" pitchFamily="34" charset="0"/>
                <a:ea typeface="Cambria" pitchFamily="34" charset="-122"/>
                <a:cs typeface="Cambria" pitchFamily="34" charset="-120"/>
              </a:rPr>
              <a:t>Learn the representation</a:t>
            </a:r>
            <a:endParaRPr lang="en-US" sz="1400" dirty="0"/>
          </a:p>
        </p:txBody>
      </p:sp>
      <p:sp>
        <p:nvSpPr>
          <p:cNvPr id="10" name="Text 8"/>
          <p:cNvSpPr txBox="1"/>
          <p:nvPr/>
        </p:nvSpPr>
        <p:spPr>
          <a:xfrm>
            <a:off x="3429000" y="1874520"/>
            <a:ext cx="2286000" cy="1325880"/>
          </a:xfrm>
          <a:prstGeom prst="rect">
            <a:avLst/>
          </a:prstGeom>
          <a:noFill/>
          <a:ln/>
        </p:spPr>
        <p:txBody>
          <a:bodyPr wrap="square" lIns="0" tIns="0" rIns="0" bIns="0" rtlCol="0" anchor="t"/>
          <a:lstStyle/>
          <a:p>
            <a:pPr indent="0" marL="0">
              <a:buNone/>
            </a:pPr>
            <a:r>
              <a:rPr lang="en-US" sz="1000" dirty="0">
                <a:solidFill>
                  <a:srgbClr val="1B2A2F"/>
                </a:solidFill>
                <a:latin typeface="Calibri" pitchFamily="34" charset="0"/>
                <a:ea typeface="Calibri" pitchFamily="34" charset="-122"/>
                <a:cs typeface="Calibri" pitchFamily="34" charset="-120"/>
              </a:rPr>
              <a:t>Fine-tune a small code model on issue-plus-patch pairs and compare against the hand-built features on the same frozen test split. Then run the LLM judge once as a ceiling.</a:t>
            </a:r>
            <a:endParaRPr lang="en-US" sz="1000" dirty="0"/>
          </a:p>
        </p:txBody>
      </p:sp>
      <p:sp>
        <p:nvSpPr>
          <p:cNvPr id="11" name="Shape 9"/>
          <p:cNvSpPr/>
          <p:nvPr/>
        </p:nvSpPr>
        <p:spPr>
          <a:xfrm>
            <a:off x="6035040" y="1143000"/>
            <a:ext cx="2651760" cy="2148840"/>
          </a:xfrm>
          <a:prstGeom prst="roundRect">
            <a:avLst>
              <a:gd name="adj" fmla="val 5106"/>
            </a:avLst>
          </a:prstGeom>
          <a:solidFill>
            <a:srgbClr val="F4F7F7"/>
          </a:solidFill>
          <a:ln w="12700">
            <a:solidFill>
              <a:srgbClr val="F4F7F7"/>
            </a:solidFill>
            <a:prstDash val="solid"/>
          </a:ln>
        </p:spPr>
      </p:sp>
      <p:sp>
        <p:nvSpPr>
          <p:cNvPr id="12" name="Text 10"/>
          <p:cNvSpPr txBox="1"/>
          <p:nvPr/>
        </p:nvSpPr>
        <p:spPr>
          <a:xfrm>
            <a:off x="6217920" y="1234440"/>
            <a:ext cx="2286000" cy="274320"/>
          </a:xfrm>
          <a:prstGeom prst="rect">
            <a:avLst/>
          </a:prstGeom>
          <a:noFill/>
          <a:ln/>
        </p:spPr>
        <p:txBody>
          <a:bodyPr wrap="square" lIns="0" tIns="0" rIns="0" bIns="0" rtlCol="0" anchor="ctr"/>
          <a:lstStyle/>
          <a:p>
            <a:pPr indent="0" marL="0">
              <a:buNone/>
            </a:pPr>
            <a:r>
              <a:rPr lang="en-US" sz="1000" b="1" dirty="0">
                <a:solidFill>
                  <a:srgbClr val="E36414"/>
                </a:solidFill>
                <a:latin typeface="Calibri" pitchFamily="34" charset="0"/>
                <a:ea typeface="Calibri" pitchFamily="34" charset="-122"/>
                <a:cs typeface="Calibri" pitchFamily="34" charset="-120"/>
              </a:rPr>
              <a:t>Phase 3</a:t>
            </a:r>
            <a:endParaRPr lang="en-US" sz="1000" dirty="0"/>
          </a:p>
        </p:txBody>
      </p:sp>
      <p:sp>
        <p:nvSpPr>
          <p:cNvPr id="13" name="Text 11"/>
          <p:cNvSpPr txBox="1"/>
          <p:nvPr/>
        </p:nvSpPr>
        <p:spPr>
          <a:xfrm>
            <a:off x="6217920" y="1481328"/>
            <a:ext cx="2286000" cy="365760"/>
          </a:xfrm>
          <a:prstGeom prst="rect">
            <a:avLst/>
          </a:prstGeom>
          <a:noFill/>
          <a:ln/>
        </p:spPr>
        <p:txBody>
          <a:bodyPr wrap="square" lIns="0" tIns="0" rIns="0" bIns="0" rtlCol="0" anchor="ctr"/>
          <a:lstStyle/>
          <a:p>
            <a:pPr indent="0" marL="0">
              <a:buNone/>
            </a:pPr>
            <a:r>
              <a:rPr lang="en-US" sz="1400" b="1" dirty="0">
                <a:solidFill>
                  <a:srgbClr val="0F4C5C"/>
                </a:solidFill>
                <a:latin typeface="Cambria" pitchFamily="34" charset="0"/>
                <a:ea typeface="Cambria" pitchFamily="34" charset="-122"/>
                <a:cs typeface="Cambria" pitchFamily="34" charset="-120"/>
              </a:rPr>
              <a:t>Beyond the benchmark</a:t>
            </a:r>
            <a:endParaRPr lang="en-US" sz="1400" dirty="0"/>
          </a:p>
        </p:txBody>
      </p:sp>
      <p:sp>
        <p:nvSpPr>
          <p:cNvPr id="14" name="Text 12"/>
          <p:cNvSpPr txBox="1"/>
          <p:nvPr/>
        </p:nvSpPr>
        <p:spPr>
          <a:xfrm>
            <a:off x="6217920" y="1874520"/>
            <a:ext cx="2286000" cy="1325880"/>
          </a:xfrm>
          <a:prstGeom prst="rect">
            <a:avLst/>
          </a:prstGeom>
          <a:noFill/>
          <a:ln/>
        </p:spPr>
        <p:txBody>
          <a:bodyPr wrap="square" lIns="0" tIns="0" rIns="0" bIns="0" rtlCol="0" anchor="t"/>
          <a:lstStyle/>
          <a:p>
            <a:pPr indent="0" marL="0">
              <a:buNone/>
            </a:pPr>
            <a:r>
              <a:rPr lang="en-US" sz="1000" dirty="0">
                <a:solidFill>
                  <a:srgbClr val="1B2A2F"/>
                </a:solidFill>
                <a:latin typeface="Calibri" pitchFamily="34" charset="0"/>
                <a:ea typeface="Calibri" pitchFamily="34" charset="-122"/>
                <a:cs typeface="Calibri" pitchFamily="34" charset="-120"/>
              </a:rPr>
              <a:t>Import real PRs with the GitHub importer, retrain on merged-and-not-reverted, and decide on auto-approve only if the bar below is cleared on production data.</a:t>
            </a:r>
            <a:endParaRPr lang="en-US" sz="1000" dirty="0"/>
          </a:p>
        </p:txBody>
      </p:sp>
      <p:sp>
        <p:nvSpPr>
          <p:cNvPr id="15" name="Shape 13"/>
          <p:cNvSpPr/>
          <p:nvPr/>
        </p:nvSpPr>
        <p:spPr>
          <a:xfrm>
            <a:off x="457200" y="3474720"/>
            <a:ext cx="8229600" cy="1143000"/>
          </a:xfrm>
          <a:prstGeom prst="roundRect">
            <a:avLst>
              <a:gd name="adj" fmla="val 9600"/>
            </a:avLst>
          </a:prstGeom>
          <a:solidFill>
            <a:srgbClr val="FBEDE4"/>
          </a:solidFill>
          <a:ln w="12700">
            <a:solidFill>
              <a:srgbClr val="FBEDE4"/>
            </a:solidFill>
            <a:prstDash val="solid"/>
          </a:ln>
        </p:spPr>
      </p:sp>
      <p:sp>
        <p:nvSpPr>
          <p:cNvPr id="16" name="Text 14"/>
          <p:cNvSpPr txBox="1"/>
          <p:nvPr/>
        </p:nvSpPr>
        <p:spPr>
          <a:xfrm>
            <a:off x="640080" y="3611880"/>
            <a:ext cx="7863840" cy="365760"/>
          </a:xfrm>
          <a:prstGeom prst="rect">
            <a:avLst/>
          </a:prstGeom>
          <a:noFill/>
          <a:ln/>
        </p:spPr>
        <p:txBody>
          <a:bodyPr wrap="square" lIns="0" tIns="0" rIns="0" bIns="0" rtlCol="0" anchor="ctr"/>
          <a:lstStyle/>
          <a:p>
            <a:pPr indent="0" marL="0">
              <a:buNone/>
            </a:pPr>
            <a:r>
              <a:rPr lang="en-US" sz="1300" b="1" dirty="0">
                <a:solidFill>
                  <a:srgbClr val="0F4C5C"/>
                </a:solidFill>
                <a:latin typeface="Cambria" pitchFamily="34" charset="0"/>
                <a:ea typeface="Cambria" pitchFamily="34" charset="-122"/>
                <a:cs typeface="Cambria" pitchFamily="34" charset="-120"/>
              </a:rPr>
              <a:t>The bar for turning on auto-approve</a:t>
            </a:r>
            <a:endParaRPr lang="en-US" sz="1300" dirty="0"/>
          </a:p>
        </p:txBody>
      </p:sp>
      <p:sp>
        <p:nvSpPr>
          <p:cNvPr id="17" name="Text 15"/>
          <p:cNvSpPr txBox="1"/>
          <p:nvPr/>
        </p:nvSpPr>
        <p:spPr>
          <a:xfrm>
            <a:off x="640080" y="3886200"/>
            <a:ext cx="7863840" cy="73152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1B2A2F"/>
                </a:solidFill>
                <a:latin typeface="Calibri" pitchFamily="34" charset="0"/>
                <a:ea typeface="Calibri" pitchFamily="34" charset="-122"/>
                <a:cs typeface="Calibri" pitchFamily="34" charset="-120"/>
              </a:rPr>
              <a:t>Approve precision of at least 90%, preferably 95%, measured on a frozen test set the thresholds never saw, with a bootstrap interval whose lower bound clears the bar.</a:t>
            </a:r>
            <a:endParaRPr lang="en-US" sz="1000" dirty="0"/>
          </a:p>
          <a:p>
            <a:pPr marL="342900" indent="-342900">
              <a:spcAft>
                <a:spcPts val="500"/>
              </a:spcAft>
              <a:buSzPct val="100000"/>
              <a:buChar char="•"/>
            </a:pPr>
            <a:r>
              <a:rPr lang="en-US" sz="1000" dirty="0">
                <a:solidFill>
                  <a:srgbClr val="1B2A2F"/>
                </a:solidFill>
                <a:latin typeface="Calibri" pitchFamily="34" charset="0"/>
                <a:ea typeface="Calibri" pitchFamily="34" charset="-122"/>
                <a:cs typeface="Calibri" pitchFamily="34" charset="-120"/>
              </a:rPr>
              <a:t>At least 20% of patches decided automatically; otherwise the gate saves no work.</a:t>
            </a:r>
            <a:endParaRPr lang="en-US" sz="1000" dirty="0"/>
          </a:p>
          <a:p>
            <a:pPr marL="342900" indent="-342900">
              <a:spcAft>
                <a:spcPts val="500"/>
              </a:spcAft>
              <a:buSzPct val="100000"/>
              <a:buChar char="•"/>
            </a:pPr>
            <a:r>
              <a:rPr lang="en-US" sz="1000" dirty="0">
                <a:solidFill>
                  <a:srgbClr val="1B2A2F"/>
                </a:solidFill>
                <a:latin typeface="Calibri" pitchFamily="34" charset="0"/>
                <a:ea typeface="Calibri" pitchFamily="34" charset="-122"/>
                <a:cs typeface="Calibri" pitchFamily="34" charset="-120"/>
              </a:rPr>
              <a:t>Validated on production PRs, not only on the benchmark.</a:t>
            </a:r>
            <a:endParaRPr lang="en-US" sz="1000" dirty="0"/>
          </a:p>
        </p:txBody>
      </p:sp>
      <p:sp>
        <p:nvSpPr>
          <p:cNvPr id="18" name="Text 16"/>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C6B70"/>
                </a:solidFill>
                <a:latin typeface="Calibri" pitchFamily="34" charset="0"/>
                <a:ea typeface="Calibri" pitchFamily="34" charset="-122"/>
                <a:cs typeface="Calibri" pitchFamily="34" charset="-120"/>
              </a:rPr>
              <a:t>TrustGate results  ·  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TrustGate results summary and next steps</dc:title>
  <dc:subject>PptxGenJS Presentation</dc:subject>
  <dc:creator>PptxGenJS</dc:creator>
  <cp:lastModifiedBy>PptxGenJS</cp:lastModifiedBy>
  <cp:revision>1</cp:revision>
  <dcterms:created xsi:type="dcterms:W3CDTF">2026-09-26T12:54:30Z</dcterms:created>
  <dcterms:modified xsi:type="dcterms:W3CDTF">2026-09-26T12:54:30Z</dcterms:modified>
</cp:coreProperties>
</file>